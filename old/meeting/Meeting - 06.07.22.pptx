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1" r:id="rId3"/>
    <p:sldId id="276" r:id="rId4"/>
    <p:sldId id="277" r:id="rId5"/>
    <p:sldId id="278" r:id="rId6"/>
    <p:sldId id="279" r:id="rId7"/>
    <p:sldId id="280" r:id="rId8"/>
    <p:sldId id="281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 showGuides="1">
      <p:cViewPr varScale="1">
        <p:scale>
          <a:sx n="119" d="100"/>
          <a:sy n="119" d="100"/>
        </p:scale>
        <p:origin x="96" y="3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4176" y="4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A7AB29-0454-402A-81D6-7CDFE9540B91}" type="doc">
      <dgm:prSet loTypeId="urn:microsoft.com/office/officeart/2005/8/layout/venn2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A84D06E-75E6-4627-A6E4-1848421D8E1A}">
      <dgm:prSet phldrT="[Text]" custT="1"/>
      <dgm:spPr/>
      <dgm:t>
        <a:bodyPr/>
        <a:lstStyle/>
        <a:p>
          <a:r>
            <a:rPr lang="en-US" sz="1100" b="1" dirty="0"/>
            <a:t>Equilibrium calculations (without recycle)</a:t>
          </a:r>
        </a:p>
      </dgm:t>
    </dgm:pt>
    <dgm:pt modelId="{F03829D3-5BCC-49E9-8117-DD687436DC01}" type="parTrans" cxnId="{0C642570-397C-4694-9E39-A2AFB55052E8}">
      <dgm:prSet/>
      <dgm:spPr/>
      <dgm:t>
        <a:bodyPr/>
        <a:lstStyle/>
        <a:p>
          <a:endParaRPr lang="en-US"/>
        </a:p>
      </dgm:t>
    </dgm:pt>
    <dgm:pt modelId="{77AAC454-584F-409A-9A28-8BE073AF6E53}" type="sibTrans" cxnId="{0C642570-397C-4694-9E39-A2AFB55052E8}">
      <dgm:prSet/>
      <dgm:spPr/>
      <dgm:t>
        <a:bodyPr/>
        <a:lstStyle/>
        <a:p>
          <a:endParaRPr lang="en-US"/>
        </a:p>
      </dgm:t>
    </dgm:pt>
    <dgm:pt modelId="{3F7AD92C-EA4E-41CE-90E1-4B463DB7689E}">
      <dgm:prSet phldrT="[Text]" custT="1"/>
      <dgm:spPr/>
      <dgm:t>
        <a:bodyPr/>
        <a:lstStyle/>
        <a:p>
          <a:r>
            <a:rPr lang="en-US" sz="1100" b="1" dirty="0"/>
            <a:t>Flowsheet from literature </a:t>
          </a:r>
        </a:p>
        <a:p>
          <a:r>
            <a:rPr lang="en-US" sz="1100" b="1" dirty="0"/>
            <a:t>(with utilities)</a:t>
          </a:r>
        </a:p>
      </dgm:t>
    </dgm:pt>
    <dgm:pt modelId="{3ED7E0E2-B13D-4042-9EDA-7EDA8C5B4378}" type="parTrans" cxnId="{99DF0D34-7ABC-4C64-B34F-A40031DD577C}">
      <dgm:prSet/>
      <dgm:spPr/>
      <dgm:t>
        <a:bodyPr/>
        <a:lstStyle/>
        <a:p>
          <a:endParaRPr lang="en-US"/>
        </a:p>
      </dgm:t>
    </dgm:pt>
    <dgm:pt modelId="{084043F7-DF86-4EED-A388-70E218860BEA}" type="sibTrans" cxnId="{99DF0D34-7ABC-4C64-B34F-A40031DD577C}">
      <dgm:prSet/>
      <dgm:spPr/>
      <dgm:t>
        <a:bodyPr/>
        <a:lstStyle/>
        <a:p>
          <a:endParaRPr lang="en-US"/>
        </a:p>
      </dgm:t>
    </dgm:pt>
    <dgm:pt modelId="{1B6AD513-5C21-46BC-BBAF-E4EF895D988B}">
      <dgm:prSet phldrT="[Text]" custT="1"/>
      <dgm:spPr/>
      <dgm:t>
        <a:bodyPr/>
        <a:lstStyle/>
        <a:p>
          <a:r>
            <a:rPr lang="en-US" sz="1100" b="1" dirty="0"/>
            <a:t>Flowsheet from literature </a:t>
          </a:r>
        </a:p>
        <a:p>
          <a:r>
            <a:rPr lang="en-US" sz="1100" b="1" dirty="0"/>
            <a:t>(without utilities)</a:t>
          </a:r>
        </a:p>
      </dgm:t>
    </dgm:pt>
    <dgm:pt modelId="{9A06FC66-831C-424C-A96E-F43A5EF33C9D}" type="parTrans" cxnId="{63CBABD6-8824-4A2F-B200-FEA0053833A9}">
      <dgm:prSet/>
      <dgm:spPr/>
      <dgm:t>
        <a:bodyPr/>
        <a:lstStyle/>
        <a:p>
          <a:endParaRPr lang="en-US"/>
        </a:p>
      </dgm:t>
    </dgm:pt>
    <dgm:pt modelId="{4AE065A1-6136-4643-B9F9-C6EC76AD2F14}" type="sibTrans" cxnId="{63CBABD6-8824-4A2F-B200-FEA0053833A9}">
      <dgm:prSet/>
      <dgm:spPr/>
      <dgm:t>
        <a:bodyPr/>
        <a:lstStyle/>
        <a:p>
          <a:endParaRPr lang="en-US"/>
        </a:p>
      </dgm:t>
    </dgm:pt>
    <dgm:pt modelId="{59E4663F-FAC5-4410-A295-4BC195CE7818}">
      <dgm:prSet phldrT="[Text]" custT="1"/>
      <dgm:spPr/>
      <dgm:t>
        <a:bodyPr/>
        <a:lstStyle/>
        <a:p>
          <a:r>
            <a:rPr lang="en-US" sz="1100" b="1" dirty="0"/>
            <a:t>Stoichiometric calculations</a:t>
          </a:r>
        </a:p>
      </dgm:t>
    </dgm:pt>
    <dgm:pt modelId="{C84A44A3-88DA-435E-9EF0-161F0EBD37C8}" type="parTrans" cxnId="{8FBBCAC6-37EC-4B05-9E1E-21993B3B7667}">
      <dgm:prSet/>
      <dgm:spPr/>
      <dgm:t>
        <a:bodyPr/>
        <a:lstStyle/>
        <a:p>
          <a:endParaRPr lang="en-US"/>
        </a:p>
      </dgm:t>
    </dgm:pt>
    <dgm:pt modelId="{FDF7D2FF-6121-4813-A056-19FFF41FF11F}" type="sibTrans" cxnId="{8FBBCAC6-37EC-4B05-9E1E-21993B3B7667}">
      <dgm:prSet/>
      <dgm:spPr/>
      <dgm:t>
        <a:bodyPr/>
        <a:lstStyle/>
        <a:p>
          <a:endParaRPr lang="en-US"/>
        </a:p>
      </dgm:t>
    </dgm:pt>
    <dgm:pt modelId="{E53320C4-160B-49B9-AF88-2FEE7D174655}" type="pres">
      <dgm:prSet presAssocID="{29A7AB29-0454-402A-81D6-7CDFE9540B91}" presName="Name0" presStyleCnt="0">
        <dgm:presLayoutVars>
          <dgm:chMax val="7"/>
          <dgm:resizeHandles val="exact"/>
        </dgm:presLayoutVars>
      </dgm:prSet>
      <dgm:spPr/>
    </dgm:pt>
    <dgm:pt modelId="{3075E64C-E568-4EC6-8EC3-0C05A6060610}" type="pres">
      <dgm:prSet presAssocID="{29A7AB29-0454-402A-81D6-7CDFE9540B91}" presName="comp1" presStyleCnt="0"/>
      <dgm:spPr/>
    </dgm:pt>
    <dgm:pt modelId="{5F26E12A-2183-4794-87C6-8C6C476A687E}" type="pres">
      <dgm:prSet presAssocID="{29A7AB29-0454-402A-81D6-7CDFE9540B91}" presName="circle1" presStyleLbl="node1" presStyleIdx="0" presStyleCnt="4"/>
      <dgm:spPr/>
    </dgm:pt>
    <dgm:pt modelId="{57271AFB-CD41-4D43-A078-88F63B77146E}" type="pres">
      <dgm:prSet presAssocID="{29A7AB29-0454-402A-81D6-7CDFE9540B91}" presName="c1text" presStyleLbl="node1" presStyleIdx="0" presStyleCnt="4">
        <dgm:presLayoutVars>
          <dgm:bulletEnabled val="1"/>
        </dgm:presLayoutVars>
      </dgm:prSet>
      <dgm:spPr/>
    </dgm:pt>
    <dgm:pt modelId="{BC973FEB-84B3-4EF1-B8CE-22BD81C78746}" type="pres">
      <dgm:prSet presAssocID="{29A7AB29-0454-402A-81D6-7CDFE9540B91}" presName="comp2" presStyleCnt="0"/>
      <dgm:spPr/>
    </dgm:pt>
    <dgm:pt modelId="{1FFF562B-C651-4552-A294-86653F2CA577}" type="pres">
      <dgm:prSet presAssocID="{29A7AB29-0454-402A-81D6-7CDFE9540B91}" presName="circle2" presStyleLbl="node1" presStyleIdx="1" presStyleCnt="4"/>
      <dgm:spPr/>
    </dgm:pt>
    <dgm:pt modelId="{FAD42C86-5CF2-4448-81ED-ED602D55961F}" type="pres">
      <dgm:prSet presAssocID="{29A7AB29-0454-402A-81D6-7CDFE9540B91}" presName="c2text" presStyleLbl="node1" presStyleIdx="1" presStyleCnt="4">
        <dgm:presLayoutVars>
          <dgm:bulletEnabled val="1"/>
        </dgm:presLayoutVars>
      </dgm:prSet>
      <dgm:spPr/>
    </dgm:pt>
    <dgm:pt modelId="{A216E1F6-25A0-4EF4-ACC2-24D8F5C9FCCA}" type="pres">
      <dgm:prSet presAssocID="{29A7AB29-0454-402A-81D6-7CDFE9540B91}" presName="comp3" presStyleCnt="0"/>
      <dgm:spPr/>
    </dgm:pt>
    <dgm:pt modelId="{F617FF4D-F25D-43D8-9D3A-16C836BDE306}" type="pres">
      <dgm:prSet presAssocID="{29A7AB29-0454-402A-81D6-7CDFE9540B91}" presName="circle3" presStyleLbl="node1" presStyleIdx="2" presStyleCnt="4"/>
      <dgm:spPr/>
    </dgm:pt>
    <dgm:pt modelId="{58324E3F-D738-4287-9F1F-DF934EE71E5F}" type="pres">
      <dgm:prSet presAssocID="{29A7AB29-0454-402A-81D6-7CDFE9540B91}" presName="c3text" presStyleLbl="node1" presStyleIdx="2" presStyleCnt="4">
        <dgm:presLayoutVars>
          <dgm:bulletEnabled val="1"/>
        </dgm:presLayoutVars>
      </dgm:prSet>
      <dgm:spPr/>
    </dgm:pt>
    <dgm:pt modelId="{093D1E6A-CFD9-415D-9A5A-42B21E31728A}" type="pres">
      <dgm:prSet presAssocID="{29A7AB29-0454-402A-81D6-7CDFE9540B91}" presName="comp4" presStyleCnt="0"/>
      <dgm:spPr/>
    </dgm:pt>
    <dgm:pt modelId="{1E4C0CAE-FD34-4670-A6CC-A41FDA0348A4}" type="pres">
      <dgm:prSet presAssocID="{29A7AB29-0454-402A-81D6-7CDFE9540B91}" presName="circle4" presStyleLbl="node1" presStyleIdx="3" presStyleCnt="4"/>
      <dgm:spPr/>
    </dgm:pt>
    <dgm:pt modelId="{628E478C-11DE-47C2-8FA2-E2DC333DF70B}" type="pres">
      <dgm:prSet presAssocID="{29A7AB29-0454-402A-81D6-7CDFE9540B91}" presName="c4text" presStyleLbl="node1" presStyleIdx="3" presStyleCnt="4">
        <dgm:presLayoutVars>
          <dgm:bulletEnabled val="1"/>
        </dgm:presLayoutVars>
      </dgm:prSet>
      <dgm:spPr/>
    </dgm:pt>
  </dgm:ptLst>
  <dgm:cxnLst>
    <dgm:cxn modelId="{355E9D1B-9564-4C12-8F3F-04F23BEC983A}" type="presOf" srcId="{7A84D06E-75E6-4627-A6E4-1848421D8E1A}" destId="{5F26E12A-2183-4794-87C6-8C6C476A687E}" srcOrd="0" destOrd="0" presId="urn:microsoft.com/office/officeart/2005/8/layout/venn2"/>
    <dgm:cxn modelId="{DCFEB52E-0544-4AB7-AD5E-B002BE1E9B7D}" type="presOf" srcId="{3F7AD92C-EA4E-41CE-90E1-4B463DB7689E}" destId="{FAD42C86-5CF2-4448-81ED-ED602D55961F}" srcOrd="1" destOrd="0" presId="urn:microsoft.com/office/officeart/2005/8/layout/venn2"/>
    <dgm:cxn modelId="{E6C24033-5B36-43FB-9971-69A96AB3AEC2}" type="presOf" srcId="{1B6AD513-5C21-46BC-BBAF-E4EF895D988B}" destId="{58324E3F-D738-4287-9F1F-DF934EE71E5F}" srcOrd="1" destOrd="0" presId="urn:microsoft.com/office/officeart/2005/8/layout/venn2"/>
    <dgm:cxn modelId="{99DF0D34-7ABC-4C64-B34F-A40031DD577C}" srcId="{29A7AB29-0454-402A-81D6-7CDFE9540B91}" destId="{3F7AD92C-EA4E-41CE-90E1-4B463DB7689E}" srcOrd="1" destOrd="0" parTransId="{3ED7E0E2-B13D-4042-9EDA-7EDA8C5B4378}" sibTransId="{084043F7-DF86-4EED-A388-70E218860BEA}"/>
    <dgm:cxn modelId="{081BC73E-7793-4E47-8749-69F669A8EC80}" type="presOf" srcId="{29A7AB29-0454-402A-81D6-7CDFE9540B91}" destId="{E53320C4-160B-49B9-AF88-2FEE7D174655}" srcOrd="0" destOrd="0" presId="urn:microsoft.com/office/officeart/2005/8/layout/venn2"/>
    <dgm:cxn modelId="{9ADFA26A-6207-4AB2-8E62-1EA4E2C12763}" type="presOf" srcId="{59E4663F-FAC5-4410-A295-4BC195CE7818}" destId="{628E478C-11DE-47C2-8FA2-E2DC333DF70B}" srcOrd="1" destOrd="0" presId="urn:microsoft.com/office/officeart/2005/8/layout/venn2"/>
    <dgm:cxn modelId="{0C642570-397C-4694-9E39-A2AFB55052E8}" srcId="{29A7AB29-0454-402A-81D6-7CDFE9540B91}" destId="{7A84D06E-75E6-4627-A6E4-1848421D8E1A}" srcOrd="0" destOrd="0" parTransId="{F03829D3-5BCC-49E9-8117-DD687436DC01}" sibTransId="{77AAC454-584F-409A-9A28-8BE073AF6E53}"/>
    <dgm:cxn modelId="{2A24A277-7BD3-46A9-AE07-FF72B7E08B51}" type="presOf" srcId="{7A84D06E-75E6-4627-A6E4-1848421D8E1A}" destId="{57271AFB-CD41-4D43-A078-88F63B77146E}" srcOrd="1" destOrd="0" presId="urn:microsoft.com/office/officeart/2005/8/layout/venn2"/>
    <dgm:cxn modelId="{474F5E86-7AD9-4B2D-A280-8D0FA65DA1BF}" type="presOf" srcId="{59E4663F-FAC5-4410-A295-4BC195CE7818}" destId="{1E4C0CAE-FD34-4670-A6CC-A41FDA0348A4}" srcOrd="0" destOrd="0" presId="urn:microsoft.com/office/officeart/2005/8/layout/venn2"/>
    <dgm:cxn modelId="{A2D62495-4D9E-4EAD-8E5A-DF29BFD953EF}" type="presOf" srcId="{3F7AD92C-EA4E-41CE-90E1-4B463DB7689E}" destId="{1FFF562B-C651-4552-A294-86653F2CA577}" srcOrd="0" destOrd="0" presId="urn:microsoft.com/office/officeart/2005/8/layout/venn2"/>
    <dgm:cxn modelId="{B4028E9B-F574-4955-AC35-2B4D9D544CBC}" type="presOf" srcId="{1B6AD513-5C21-46BC-BBAF-E4EF895D988B}" destId="{F617FF4D-F25D-43D8-9D3A-16C836BDE306}" srcOrd="0" destOrd="0" presId="urn:microsoft.com/office/officeart/2005/8/layout/venn2"/>
    <dgm:cxn modelId="{8FBBCAC6-37EC-4B05-9E1E-21993B3B7667}" srcId="{29A7AB29-0454-402A-81D6-7CDFE9540B91}" destId="{59E4663F-FAC5-4410-A295-4BC195CE7818}" srcOrd="3" destOrd="0" parTransId="{C84A44A3-88DA-435E-9EF0-161F0EBD37C8}" sibTransId="{FDF7D2FF-6121-4813-A056-19FFF41FF11F}"/>
    <dgm:cxn modelId="{63CBABD6-8824-4A2F-B200-FEA0053833A9}" srcId="{29A7AB29-0454-402A-81D6-7CDFE9540B91}" destId="{1B6AD513-5C21-46BC-BBAF-E4EF895D988B}" srcOrd="2" destOrd="0" parTransId="{9A06FC66-831C-424C-A96E-F43A5EF33C9D}" sibTransId="{4AE065A1-6136-4643-B9F9-C6EC76AD2F14}"/>
    <dgm:cxn modelId="{8EBC4825-E6D5-40FF-ADBB-928BCE7BE4DA}" type="presParOf" srcId="{E53320C4-160B-49B9-AF88-2FEE7D174655}" destId="{3075E64C-E568-4EC6-8EC3-0C05A6060610}" srcOrd="0" destOrd="0" presId="urn:microsoft.com/office/officeart/2005/8/layout/venn2"/>
    <dgm:cxn modelId="{F5C3884E-62BD-45A8-B085-D2DCA4BC2CE5}" type="presParOf" srcId="{3075E64C-E568-4EC6-8EC3-0C05A6060610}" destId="{5F26E12A-2183-4794-87C6-8C6C476A687E}" srcOrd="0" destOrd="0" presId="urn:microsoft.com/office/officeart/2005/8/layout/venn2"/>
    <dgm:cxn modelId="{51EBE258-BCEC-4F2D-9A56-EB114A367008}" type="presParOf" srcId="{3075E64C-E568-4EC6-8EC3-0C05A6060610}" destId="{57271AFB-CD41-4D43-A078-88F63B77146E}" srcOrd="1" destOrd="0" presId="urn:microsoft.com/office/officeart/2005/8/layout/venn2"/>
    <dgm:cxn modelId="{99FB30BA-2831-474D-9176-CADE77BCE18C}" type="presParOf" srcId="{E53320C4-160B-49B9-AF88-2FEE7D174655}" destId="{BC973FEB-84B3-4EF1-B8CE-22BD81C78746}" srcOrd="1" destOrd="0" presId="urn:microsoft.com/office/officeart/2005/8/layout/venn2"/>
    <dgm:cxn modelId="{32A6840D-FA52-4806-9055-09888948CC00}" type="presParOf" srcId="{BC973FEB-84B3-4EF1-B8CE-22BD81C78746}" destId="{1FFF562B-C651-4552-A294-86653F2CA577}" srcOrd="0" destOrd="0" presId="urn:microsoft.com/office/officeart/2005/8/layout/venn2"/>
    <dgm:cxn modelId="{FC426F96-8626-4274-A846-EA6421DEC44B}" type="presParOf" srcId="{BC973FEB-84B3-4EF1-B8CE-22BD81C78746}" destId="{FAD42C86-5CF2-4448-81ED-ED602D55961F}" srcOrd="1" destOrd="0" presId="urn:microsoft.com/office/officeart/2005/8/layout/venn2"/>
    <dgm:cxn modelId="{44FF031E-02B2-47DC-A5DD-B5C10501A7EF}" type="presParOf" srcId="{E53320C4-160B-49B9-AF88-2FEE7D174655}" destId="{A216E1F6-25A0-4EF4-ACC2-24D8F5C9FCCA}" srcOrd="2" destOrd="0" presId="urn:microsoft.com/office/officeart/2005/8/layout/venn2"/>
    <dgm:cxn modelId="{C4789863-F0DD-4F88-9203-5E5C9057B3A5}" type="presParOf" srcId="{A216E1F6-25A0-4EF4-ACC2-24D8F5C9FCCA}" destId="{F617FF4D-F25D-43D8-9D3A-16C836BDE306}" srcOrd="0" destOrd="0" presId="urn:microsoft.com/office/officeart/2005/8/layout/venn2"/>
    <dgm:cxn modelId="{EDD171DE-89E2-4E81-BD7A-5238FA59A57B}" type="presParOf" srcId="{A216E1F6-25A0-4EF4-ACC2-24D8F5C9FCCA}" destId="{58324E3F-D738-4287-9F1F-DF934EE71E5F}" srcOrd="1" destOrd="0" presId="urn:microsoft.com/office/officeart/2005/8/layout/venn2"/>
    <dgm:cxn modelId="{0A0EA47C-7715-4E1C-AD99-CBE122FF44D0}" type="presParOf" srcId="{E53320C4-160B-49B9-AF88-2FEE7D174655}" destId="{093D1E6A-CFD9-415D-9A5A-42B21E31728A}" srcOrd="3" destOrd="0" presId="urn:microsoft.com/office/officeart/2005/8/layout/venn2"/>
    <dgm:cxn modelId="{1876BEAD-1796-440A-894C-AA37405EC41E}" type="presParOf" srcId="{093D1E6A-CFD9-415D-9A5A-42B21E31728A}" destId="{1E4C0CAE-FD34-4670-A6CC-A41FDA0348A4}" srcOrd="0" destOrd="0" presId="urn:microsoft.com/office/officeart/2005/8/layout/venn2"/>
    <dgm:cxn modelId="{18FD53B2-6F5B-43EE-ABF9-5A867E11186E}" type="presParOf" srcId="{093D1E6A-CFD9-415D-9A5A-42B21E31728A}" destId="{628E478C-11DE-47C2-8FA2-E2DC333DF70B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6E12A-2183-4794-87C6-8C6C476A687E}">
      <dsp:nvSpPr>
        <dsp:cNvPr id="0" name=""/>
        <dsp:cNvSpPr/>
      </dsp:nvSpPr>
      <dsp:spPr>
        <a:xfrm>
          <a:off x="1185754" y="0"/>
          <a:ext cx="4030293" cy="403029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Equilibrium calculations (without recycle)</a:t>
          </a:r>
        </a:p>
      </dsp:txBody>
      <dsp:txXfrm>
        <a:off x="2637466" y="201514"/>
        <a:ext cx="1126869" cy="604543"/>
      </dsp:txXfrm>
    </dsp:sp>
    <dsp:sp modelId="{1FFF562B-C651-4552-A294-86653F2CA577}">
      <dsp:nvSpPr>
        <dsp:cNvPr id="0" name=""/>
        <dsp:cNvSpPr/>
      </dsp:nvSpPr>
      <dsp:spPr>
        <a:xfrm>
          <a:off x="1588784" y="806058"/>
          <a:ext cx="3224234" cy="322423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Flowsheet from literature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(with utilities)</a:t>
          </a:r>
        </a:p>
      </dsp:txBody>
      <dsp:txXfrm>
        <a:off x="2637466" y="999512"/>
        <a:ext cx="1126869" cy="580362"/>
      </dsp:txXfrm>
    </dsp:sp>
    <dsp:sp modelId="{F617FF4D-F25D-43D8-9D3A-16C836BDE306}">
      <dsp:nvSpPr>
        <dsp:cNvPr id="0" name=""/>
        <dsp:cNvSpPr/>
      </dsp:nvSpPr>
      <dsp:spPr>
        <a:xfrm>
          <a:off x="1991813" y="1612117"/>
          <a:ext cx="2418175" cy="24181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Flowsheet from literature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(without utilities)</a:t>
          </a:r>
        </a:p>
      </dsp:txBody>
      <dsp:txXfrm>
        <a:off x="2637466" y="1793480"/>
        <a:ext cx="1126869" cy="544089"/>
      </dsp:txXfrm>
    </dsp:sp>
    <dsp:sp modelId="{1E4C0CAE-FD34-4670-A6CC-A41FDA0348A4}">
      <dsp:nvSpPr>
        <dsp:cNvPr id="0" name=""/>
        <dsp:cNvSpPr/>
      </dsp:nvSpPr>
      <dsp:spPr>
        <a:xfrm>
          <a:off x="2394842" y="2418175"/>
          <a:ext cx="1612117" cy="161211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Stoichiometric calculations</a:t>
          </a:r>
        </a:p>
      </dsp:txBody>
      <dsp:txXfrm>
        <a:off x="2630931" y="2821205"/>
        <a:ext cx="1139939" cy="8060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06.07.2022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06.07.2022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06.07.2022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Organisationseinheit verbal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06.07.2022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Organisationseinheit verbal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06.07.2022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06.07.2022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06.07.2022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06.07.2022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06.07.2022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06.07.2022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06.07.2022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06.07.2022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06.07.2022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 descr="Ein Bild, das Gebäude, Stadt, Schloss, Turm enthält.&#10;&#10;Automatisch generierte Beschreibung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" b="461"/>
          <a:stretch>
            <a:fillRect/>
          </a:stretch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2233538"/>
            <a:ext cx="7467601" cy="2772000"/>
          </a:xfrm>
        </p:spPr>
        <p:txBody>
          <a:bodyPr/>
          <a:lstStyle/>
          <a:p>
            <a:r>
              <a:rPr lang="de-DE" dirty="0"/>
              <a:t>Carbon Dioxide to 1-Propanol</a:t>
            </a:r>
            <a:br>
              <a:rPr lang="de-DE" dirty="0"/>
            </a:br>
            <a:r>
              <a:rPr lang="de-DE" dirty="0"/>
              <a:t>Weekly Update</a:t>
            </a:r>
            <a:endParaRPr lang="de-CH" sz="200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54453" y="3959875"/>
            <a:ext cx="4680000" cy="1008000"/>
          </a:xfrm>
        </p:spPr>
        <p:txBody>
          <a:bodyPr/>
          <a:lstStyle/>
          <a:p>
            <a:r>
              <a:rPr lang="de-DE" b="1" dirty="0"/>
              <a:t>Abhinandan Nabera</a:t>
            </a:r>
          </a:p>
          <a:p>
            <a:r>
              <a:rPr lang="de-DE" dirty="0"/>
              <a:t>06. </a:t>
            </a:r>
            <a:r>
              <a:rPr lang="de-DE" dirty="0" err="1"/>
              <a:t>July</a:t>
            </a:r>
            <a:r>
              <a:rPr lang="de-DE" dirty="0"/>
              <a:t> 2022</a:t>
            </a:r>
            <a:endParaRPr lang="de-CH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6B18E6F-BDD9-4B0B-9B9E-C25187E0E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11158" y="355832"/>
            <a:ext cx="3049005" cy="346715"/>
          </a:xfrm>
        </p:spPr>
        <p:txBody>
          <a:bodyPr/>
          <a:lstStyle/>
          <a:p>
            <a:r>
              <a:rPr lang="de-DE" dirty="0"/>
              <a:t>Institute for Chemical and Bioengineering</a:t>
            </a:r>
          </a:p>
          <a:p>
            <a:r>
              <a:rPr lang="de-DE" dirty="0"/>
              <a:t>Sustainable </a:t>
            </a:r>
            <a:r>
              <a:rPr lang="de-DE" dirty="0" err="1"/>
              <a:t>Process</a:t>
            </a:r>
            <a:r>
              <a:rPr lang="de-DE" dirty="0"/>
              <a:t> Systems Engineering Lab</a:t>
            </a:r>
          </a:p>
        </p:txBody>
      </p:sp>
      <p:pic>
        <p:nvPicPr>
          <p:cNvPr id="8" name="Bildplatzhalter 12">
            <a:extLst>
              <a:ext uri="{FF2B5EF4-FFF2-40B4-BE49-F238E27FC236}">
                <a16:creationId xmlns:a16="http://schemas.microsoft.com/office/drawing/2014/main" id="{A8263AB7-96B1-713F-8090-21CF1977D44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3045" y="6431200"/>
            <a:ext cx="787118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Meeting </a:t>
            </a:r>
            <a:r>
              <a:rPr lang="de-DE" dirty="0" err="1"/>
              <a:t>Minutes</a:t>
            </a:r>
            <a:r>
              <a:rPr lang="de-DE" dirty="0"/>
              <a:t> (28.06.2022)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792F61-F3A1-4E2C-B0EE-9742603F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end </a:t>
            </a:r>
            <a:r>
              <a:rPr lang="de-DE" dirty="0" err="1"/>
              <a:t>points</a:t>
            </a:r>
            <a:r>
              <a:rPr lang="de-DE" dirty="0"/>
              <a:t> and GWP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four</a:t>
            </a:r>
            <a:r>
              <a:rPr lang="de-DE" dirty="0"/>
              <a:t> </a:t>
            </a:r>
            <a:r>
              <a:rPr lang="de-DE" dirty="0" err="1"/>
              <a:t>evaluation</a:t>
            </a:r>
            <a:r>
              <a:rPr lang="de-DE" dirty="0"/>
              <a:t> </a:t>
            </a:r>
            <a:r>
              <a:rPr lang="de-DE" dirty="0" err="1"/>
              <a:t>stages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</a:t>
            </a:r>
            <a:r>
              <a:rPr lang="de-DE" dirty="0" err="1"/>
              <a:t>Process</a:t>
            </a:r>
            <a:r>
              <a:rPr lang="de-DE" dirty="0"/>
              <a:t> Systems Engineering Lab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06.07.2022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0F771F21-A324-9841-0D4C-819C40CE36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0534437"/>
              </p:ext>
            </p:extLst>
          </p:nvPr>
        </p:nvGraphicFramePr>
        <p:xfrm>
          <a:off x="2895097" y="1998413"/>
          <a:ext cx="6401803" cy="40302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405247A4-FC2E-973C-199B-2452FEE73282}"/>
              </a:ext>
            </a:extLst>
          </p:cNvPr>
          <p:cNvSpPr/>
          <p:nvPr/>
        </p:nvSpPr>
        <p:spPr>
          <a:xfrm>
            <a:off x="6499056" y="2286000"/>
            <a:ext cx="429129" cy="49730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8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Meeting </a:t>
            </a:r>
            <a:r>
              <a:rPr lang="de-DE" dirty="0" err="1"/>
              <a:t>Minutes</a:t>
            </a:r>
            <a:r>
              <a:rPr lang="de-DE" dirty="0"/>
              <a:t> (28.06.2022)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792F61-F3A1-4E2C-B0EE-9742603F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de-DE" dirty="0"/>
              <a:t>Carbon </a:t>
            </a:r>
            <a:r>
              <a:rPr lang="de-DE" dirty="0" err="1"/>
              <a:t>dioxide</a:t>
            </a:r>
            <a:r>
              <a:rPr lang="de-DE" dirty="0"/>
              <a:t> route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environmentally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almost</a:t>
            </a:r>
            <a:r>
              <a:rPr lang="de-DE" dirty="0"/>
              <a:t> </a:t>
            </a:r>
            <a:r>
              <a:rPr lang="de-DE" dirty="0" err="1"/>
              <a:t>always</a:t>
            </a:r>
            <a:endParaRPr lang="de-DE" dirty="0"/>
          </a:p>
          <a:p>
            <a:pPr>
              <a:buFont typeface="Wingdings" panose="05000000000000000000" pitchFamily="2" charset="2"/>
              <a:buChar char="v"/>
            </a:pPr>
            <a:r>
              <a:rPr lang="de-DE" dirty="0"/>
              <a:t>Shift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focus</a:t>
            </a:r>
            <a:r>
              <a:rPr lang="de-DE" dirty="0"/>
              <a:t> to </a:t>
            </a:r>
            <a:r>
              <a:rPr lang="de-DE" dirty="0" err="1"/>
              <a:t>economics</a:t>
            </a:r>
            <a:endParaRPr lang="de-DE" dirty="0"/>
          </a:p>
          <a:p>
            <a:pPr>
              <a:buFont typeface="Wingdings" panose="05000000000000000000" pitchFamily="2" charset="2"/>
              <a:buChar char="v"/>
            </a:pPr>
            <a:r>
              <a:rPr lang="de-DE" dirty="0"/>
              <a:t>Try to </a:t>
            </a:r>
            <a:r>
              <a:rPr lang="de-DE" dirty="0" err="1"/>
              <a:t>simulate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flowsheet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available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(to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BAU </a:t>
            </a:r>
            <a:r>
              <a:rPr lang="de-DE" dirty="0" err="1"/>
              <a:t>contributions</a:t>
            </a:r>
            <a:r>
              <a:rPr lang="de-DE" dirty="0"/>
              <a:t>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de-DE" dirty="0" err="1"/>
              <a:t>Sensitivity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for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prices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raw</a:t>
            </a:r>
            <a:r>
              <a:rPr lang="de-DE" dirty="0"/>
              <a:t> </a:t>
            </a:r>
            <a:r>
              <a:rPr lang="de-DE" dirty="0" err="1"/>
              <a:t>materials</a:t>
            </a:r>
            <a:r>
              <a:rPr lang="de-DE" dirty="0"/>
              <a:t>, </a:t>
            </a:r>
            <a:r>
              <a:rPr lang="de-DE" dirty="0" err="1"/>
              <a:t>electricity</a:t>
            </a:r>
            <a:r>
              <a:rPr lang="de-DE" dirty="0"/>
              <a:t> to find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cut</a:t>
            </a:r>
            <a:r>
              <a:rPr lang="de-DE" dirty="0"/>
              <a:t>-off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process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feasible</a:t>
            </a:r>
            <a:endParaRPr lang="de-DE" dirty="0"/>
          </a:p>
          <a:p>
            <a:pPr>
              <a:buFont typeface="Wingdings" panose="05000000000000000000" pitchFamily="2" charset="2"/>
              <a:buChar char="v"/>
            </a:pPr>
            <a:r>
              <a:rPr lang="de-DE" dirty="0"/>
              <a:t>Come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an </a:t>
            </a:r>
            <a:r>
              <a:rPr lang="de-DE" dirty="0" err="1"/>
              <a:t>idea</a:t>
            </a:r>
            <a:r>
              <a:rPr lang="de-DE" dirty="0"/>
              <a:t> to </a:t>
            </a:r>
            <a:r>
              <a:rPr lang="de-DE" dirty="0" err="1"/>
              <a:t>integrate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processes</a:t>
            </a:r>
            <a:r>
              <a:rPr lang="de-DE" dirty="0"/>
              <a:t> (e.g. Alexei </a:t>
            </a:r>
            <a:r>
              <a:rPr lang="de-DE" dirty="0" err="1"/>
              <a:t>Lapkin</a:t>
            </a:r>
            <a:r>
              <a:rPr lang="de-DE" dirty="0"/>
              <a:t> </a:t>
            </a:r>
            <a:r>
              <a:rPr lang="de-DE" dirty="0" err="1"/>
              <a:t>ethylene</a:t>
            </a:r>
            <a:r>
              <a:rPr lang="de-DE" dirty="0"/>
              <a:t> </a:t>
            </a:r>
            <a:r>
              <a:rPr lang="de-DE" dirty="0" err="1"/>
              <a:t>paper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</a:t>
            </a:r>
            <a:r>
              <a:rPr lang="de-DE" dirty="0" err="1"/>
              <a:t>Process</a:t>
            </a:r>
            <a:r>
              <a:rPr lang="de-DE" dirty="0"/>
              <a:t> Systems Engineering Lab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06.07.2022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456231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Proposed</a:t>
            </a:r>
            <a:r>
              <a:rPr lang="de-DE" dirty="0"/>
              <a:t> Route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792F61-F3A1-4E2C-B0EE-9742603FD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705" y="1089000"/>
            <a:ext cx="10728325" cy="4680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de-DE" dirty="0" err="1"/>
              <a:t>Essentially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difference</a:t>
            </a:r>
            <a:r>
              <a:rPr lang="de-DE" dirty="0"/>
              <a:t> </a:t>
            </a:r>
            <a:r>
              <a:rPr lang="de-DE" dirty="0" err="1"/>
              <a:t>is</a:t>
            </a:r>
            <a:endParaRPr lang="de-DE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de-DE" dirty="0"/>
              <a:t>BAU: </a:t>
            </a:r>
            <a:r>
              <a:rPr lang="de-DE" dirty="0" err="1"/>
              <a:t>syngas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steam</a:t>
            </a:r>
            <a:r>
              <a:rPr lang="de-DE" dirty="0"/>
              <a:t> </a:t>
            </a:r>
            <a:r>
              <a:rPr lang="de-DE" dirty="0" err="1"/>
              <a:t>reforming</a:t>
            </a:r>
            <a:endParaRPr lang="de-DE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de-DE" dirty="0" err="1"/>
              <a:t>Proposed</a:t>
            </a:r>
            <a:r>
              <a:rPr lang="de-DE" dirty="0"/>
              <a:t> route: </a:t>
            </a:r>
            <a:r>
              <a:rPr lang="de-DE" dirty="0" err="1"/>
              <a:t>syngas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carbon</a:t>
            </a:r>
            <a:r>
              <a:rPr lang="de-DE" dirty="0"/>
              <a:t> </a:t>
            </a:r>
            <a:r>
              <a:rPr lang="de-DE" dirty="0" err="1"/>
              <a:t>dioxide</a:t>
            </a:r>
            <a:endParaRPr lang="de-DE" dirty="0"/>
          </a:p>
          <a:p>
            <a:pPr>
              <a:buFont typeface="Wingdings" panose="05000000000000000000" pitchFamily="2" charset="2"/>
              <a:buChar char="v"/>
            </a:pP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</a:t>
            </a:r>
            <a:r>
              <a:rPr lang="de-DE" dirty="0" err="1"/>
              <a:t>Process</a:t>
            </a:r>
            <a:r>
              <a:rPr lang="de-DE" dirty="0"/>
              <a:t> Systems Engineering Lab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06.07.2022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</a:t>
            </a:fld>
            <a:endParaRPr lang="de-CH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71F539-3E20-6E74-3918-228381041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816" y="2694893"/>
            <a:ext cx="7084365" cy="3122233"/>
          </a:xfrm>
          <a:prstGeom prst="rect">
            <a:avLst/>
          </a:prstGeom>
          <a:ln w="28575">
            <a:solidFill>
              <a:srgbClr val="00B050"/>
            </a:solidFill>
            <a:prstDash val="dash"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A76E28E-CD52-3401-5CAB-0BD80E707350}"/>
              </a:ext>
            </a:extLst>
          </p:cNvPr>
          <p:cNvSpPr/>
          <p:nvPr/>
        </p:nvSpPr>
        <p:spPr>
          <a:xfrm>
            <a:off x="2743026" y="4195011"/>
            <a:ext cx="4323522" cy="1491914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16B588-FB98-0052-ED4F-2BD824F6B902}"/>
              </a:ext>
            </a:extLst>
          </p:cNvPr>
          <p:cNvSpPr txBox="1"/>
          <p:nvPr/>
        </p:nvSpPr>
        <p:spPr>
          <a:xfrm>
            <a:off x="8282209" y="2417894"/>
            <a:ext cx="2005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Proposed Method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D307C4-73F6-4614-00F4-E732F167D77F}"/>
              </a:ext>
            </a:extLst>
          </p:cNvPr>
          <p:cNvSpPr txBox="1"/>
          <p:nvPr/>
        </p:nvSpPr>
        <p:spPr>
          <a:xfrm>
            <a:off x="6495756" y="5185338"/>
            <a:ext cx="597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BAU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CFA059-81EE-962E-08B4-843515F6A7B5}"/>
              </a:ext>
            </a:extLst>
          </p:cNvPr>
          <p:cNvSpPr txBox="1"/>
          <p:nvPr/>
        </p:nvSpPr>
        <p:spPr>
          <a:xfrm>
            <a:off x="2871362" y="4880538"/>
            <a:ext cx="9092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Hydrogenation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747173-92E5-87E0-AE3F-0F5808C62D6F}"/>
              </a:ext>
            </a:extLst>
          </p:cNvPr>
          <p:cNvSpPr txBox="1"/>
          <p:nvPr/>
        </p:nvSpPr>
        <p:spPr>
          <a:xfrm>
            <a:off x="6052182" y="4982671"/>
            <a:ext cx="10406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Hydroformylation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938FA5-5968-ED0D-3EC3-FEE918084A72}"/>
              </a:ext>
            </a:extLst>
          </p:cNvPr>
          <p:cNvSpPr txBox="1"/>
          <p:nvPr/>
        </p:nvSpPr>
        <p:spPr>
          <a:xfrm>
            <a:off x="5004962" y="3656246"/>
            <a:ext cx="5036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RWGS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9B8D964-379E-E043-E986-C4CE45F8D0ED}"/>
              </a:ext>
            </a:extLst>
          </p:cNvPr>
          <p:cNvCxnSpPr/>
          <p:nvPr/>
        </p:nvCxnSpPr>
        <p:spPr>
          <a:xfrm flipV="1">
            <a:off x="5871411" y="5185338"/>
            <a:ext cx="561473" cy="2769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3A108DC-7EE9-4ED8-2EE1-F54DBBA3CEA5}"/>
              </a:ext>
            </a:extLst>
          </p:cNvPr>
          <p:cNvSpPr txBox="1"/>
          <p:nvPr/>
        </p:nvSpPr>
        <p:spPr>
          <a:xfrm>
            <a:off x="5404737" y="5413714"/>
            <a:ext cx="10647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Syngas from SMR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8D98D1-FCB4-EC03-5149-40E2531DAA86}"/>
                  </a:ext>
                </a:extLst>
              </p:cNvPr>
              <p:cNvSpPr txBox="1"/>
              <p:nvPr/>
            </p:nvSpPr>
            <p:spPr>
              <a:xfrm>
                <a:off x="7452142" y="680240"/>
                <a:ext cx="4130258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Main reactions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RWGS: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𝐂𝐎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𝐂𝐎</m:t>
                    </m:r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𝐎</m:t>
                    </m:r>
                  </m:oMath>
                </a14:m>
                <a:endParaRPr lang="en-US" sz="12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Hydroformylation: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1" i="0" smtClean="0">
                        <a:latin typeface="Cambria Math" panose="02040503050406030204" pitchFamily="18" charset="0"/>
                      </a:rPr>
                      <m:t>𝐂𝐎</m:t>
                    </m:r>
                    <m:r>
                      <a:rPr lang="en-US" sz="1200" b="1" i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𝐂𝐇𝐎</m:t>
                    </m:r>
                  </m:oMath>
                </a14:m>
                <a:endParaRPr lang="en-US" sz="12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Hydrogenation: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𝐂𝐇𝐎</m:t>
                    </m:r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𝐎𝐇</m:t>
                    </m:r>
                  </m:oMath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r>
                  <a:rPr lang="en-US" sz="1200" dirty="0"/>
                  <a:t>Side reactions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   Hydroformylation: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1200" b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sub>
                    </m:sSub>
                  </m:oMath>
                </a14:m>
                <a:endParaRPr lang="en-US" sz="1200" b="1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8D98D1-FCB4-EC03-5149-40E2531DA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142" y="680240"/>
                <a:ext cx="4130258" cy="1384995"/>
              </a:xfrm>
              <a:prstGeom prst="rect">
                <a:avLst/>
              </a:prstGeom>
              <a:blipFill>
                <a:blip r:embed="rId3"/>
                <a:stretch>
                  <a:fillRect t="-881" b="-2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817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  <p:bldP spid="11" grpId="0"/>
      <p:bldP spid="12" grpId="0"/>
      <p:bldP spid="13" grpId="0"/>
      <p:bldP spid="14" grpId="0"/>
      <p:bldP spid="15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Simulation (</a:t>
            </a:r>
            <a:r>
              <a:rPr lang="de-DE" dirty="0" err="1"/>
              <a:t>Syngas</a:t>
            </a:r>
            <a:r>
              <a:rPr lang="de-DE" dirty="0"/>
              <a:t> to 1-Propanol)</a:t>
            </a:r>
            <a:endParaRPr lang="de-CH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9A6F523-3688-0614-7378-97F606D6FD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37" y="1610042"/>
            <a:ext cx="10728325" cy="3467467"/>
          </a:xfr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</a:t>
            </a:r>
            <a:r>
              <a:rPr lang="de-DE" dirty="0" err="1"/>
              <a:t>Process</a:t>
            </a:r>
            <a:r>
              <a:rPr lang="de-DE" dirty="0"/>
              <a:t> Systems Engineering Lab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06.07.2022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A2687-E444-769C-A8EF-8D02CC8C451E}"/>
              </a:ext>
            </a:extLst>
          </p:cNvPr>
          <p:cNvSpPr txBox="1"/>
          <p:nvPr/>
        </p:nvSpPr>
        <p:spPr>
          <a:xfrm>
            <a:off x="3368842" y="3785936"/>
            <a:ext cx="14670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Hydroformylation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E92128-1DE0-734D-12C1-CB0782B3F939}"/>
                  </a:ext>
                </a:extLst>
              </p:cNvPr>
              <p:cNvSpPr txBox="1"/>
              <p:nvPr/>
            </p:nvSpPr>
            <p:spPr>
              <a:xfrm>
                <a:off x="2863516" y="3986463"/>
                <a:ext cx="25597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1200" b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𝐂𝐎</m:t>
                      </m:r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200" b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</m:t>
                      </m:r>
                      <m:sSub>
                        <m:sSubPr>
                          <m:ctrlPr>
                            <a:rPr lang="en-US" sz="1200" b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1200" b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𝐂𝐇𝐎</m:t>
                      </m:r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1200" b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</m:t>
                      </m:r>
                      <m:sSub>
                        <m:sSubPr>
                          <m:ctrlPr>
                            <a:rPr lang="en-US" sz="1200" b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1200" b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endParaRPr lang="en-US" sz="1200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E92128-1DE0-734D-12C1-CB0782B3F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516" y="3986463"/>
                <a:ext cx="255974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79EBD15-1F49-3B35-C517-57968D3866F9}"/>
              </a:ext>
            </a:extLst>
          </p:cNvPr>
          <p:cNvSpPr txBox="1"/>
          <p:nvPr/>
        </p:nvSpPr>
        <p:spPr>
          <a:xfrm>
            <a:off x="10042358" y="4984299"/>
            <a:ext cx="12715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Hydrogenation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F4673F-51FD-8E0B-7413-C507923A3A02}"/>
                  </a:ext>
                </a:extLst>
              </p:cNvPr>
              <p:cNvSpPr txBox="1"/>
              <p:nvPr/>
            </p:nvSpPr>
            <p:spPr>
              <a:xfrm>
                <a:off x="9330511" y="5178945"/>
                <a:ext cx="29113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𝐂𝐇𝐎</m:t>
                      </m:r>
                      <m:r>
                        <a:rPr lang="en-US" sz="12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</m:t>
                      </m:r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𝐎𝐇</m:t>
                      </m:r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endParaRPr lang="en-US" sz="1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F4673F-51FD-8E0B-7413-C507923A3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511" y="5178945"/>
                <a:ext cx="291137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7909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BE03-0095-6FD0-52AF-FEC126D4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DA780-8102-359C-C981-BDAEC8BA9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Not enough data for the separation process e.g. CO stripper after the hydroformylation reactor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Difference in the purge gas composition reported and calculated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Energy required for compression and separation found to be very different (because the flow rates are different)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00B65-06E3-36B2-AF36-6D42DC1A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06.07.2022</a:t>
            </a:fld>
            <a:endParaRPr lang="de-CH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141C-66FA-1C31-7632-6292FB29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6EBEFAAE-0CB7-B0F7-7D67-78B0B4CF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5400000" cy="216000"/>
          </a:xfrm>
        </p:spPr>
        <p:txBody>
          <a:bodyPr/>
          <a:lstStyle/>
          <a:p>
            <a:r>
              <a:rPr lang="de-DE" dirty="0"/>
              <a:t>Sustainable </a:t>
            </a:r>
            <a:r>
              <a:rPr lang="de-DE" dirty="0" err="1"/>
              <a:t>Process</a:t>
            </a:r>
            <a:r>
              <a:rPr lang="de-DE" dirty="0"/>
              <a:t> Systems Engineering Lab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9B46FD2-61B2-41CB-735D-44C0C182E488}"/>
              </a:ext>
            </a:extLst>
          </p:cNvPr>
          <p:cNvGrpSpPr/>
          <p:nvPr/>
        </p:nvGrpSpPr>
        <p:grpSpPr>
          <a:xfrm>
            <a:off x="2505853" y="3027261"/>
            <a:ext cx="7425447" cy="2648320"/>
            <a:chOff x="2505853" y="3027261"/>
            <a:chExt cx="7425447" cy="264832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BA615E2-D577-6A71-ADA0-51EB25AB4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5853" y="3027261"/>
              <a:ext cx="6811326" cy="2648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573E8F8-240A-9CB9-D93C-CD80B3E90474}"/>
                </a:ext>
              </a:extLst>
            </p:cNvPr>
            <p:cNvSpPr txBox="1"/>
            <p:nvPr/>
          </p:nvSpPr>
          <p:spPr>
            <a:xfrm>
              <a:off x="8964650" y="3027261"/>
              <a:ext cx="4539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CO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E9F9723-434B-8346-95F0-1B98F1BAA428}"/>
                </a:ext>
              </a:extLst>
            </p:cNvPr>
            <p:cNvCxnSpPr/>
            <p:nvPr/>
          </p:nvCxnSpPr>
          <p:spPr>
            <a:xfrm>
              <a:off x="6665495" y="4740442"/>
              <a:ext cx="88231" cy="5935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588C6E8-C173-72D4-3492-2D3F325CB081}"/>
                </a:ext>
              </a:extLst>
            </p:cNvPr>
            <p:cNvSpPr txBox="1"/>
            <p:nvPr/>
          </p:nvSpPr>
          <p:spPr>
            <a:xfrm>
              <a:off x="6296526" y="5274597"/>
              <a:ext cx="10310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CO stripper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1ECD701-2C03-D12C-7DBD-F906ACAFBC23}"/>
                </a:ext>
              </a:extLst>
            </p:cNvPr>
            <p:cNvSpPr txBox="1"/>
            <p:nvPr/>
          </p:nvSpPr>
          <p:spPr>
            <a:xfrm>
              <a:off x="3039804" y="4524998"/>
              <a:ext cx="90922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/>
                <a:t>Hydrogenation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01BA4CE-36D7-9FA8-006E-67F3B994FCF5}"/>
                </a:ext>
              </a:extLst>
            </p:cNvPr>
            <p:cNvSpPr txBox="1"/>
            <p:nvPr/>
          </p:nvSpPr>
          <p:spPr>
            <a:xfrm>
              <a:off x="8043100" y="4632720"/>
              <a:ext cx="10406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/>
                <a:t>Hydroformylation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E159FB7-35AC-D9F4-0EAA-2AB78AE45F41}"/>
                    </a:ext>
                  </a:extLst>
                </p:cNvPr>
                <p:cNvSpPr txBox="1"/>
                <p:nvPr/>
              </p:nvSpPr>
              <p:spPr>
                <a:xfrm>
                  <a:off x="7371560" y="4766765"/>
                  <a:ext cx="2559740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b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𝐂𝐎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+ </m:t>
                        </m:r>
                        <m:sSub>
                          <m:sSubPr>
                            <m:ctrlPr>
                              <a:rPr lang="en-US" sz="1200" b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 </m:t>
                        </m:r>
                        <m:sSub>
                          <m:sSubPr>
                            <m:ctrlPr>
                              <a:rPr lang="en-US" sz="1200" b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𝐂𝐇</m:t>
                            </m:r>
                          </m:e>
                          <m:sub>
                            <m:r>
                              <a:rPr lang="en-US" sz="12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b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𝐂𝐇</m:t>
                            </m:r>
                          </m:e>
                          <m:sub>
                            <m:r>
                              <a:rPr lang="en-US" sz="12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𝐂𝐇𝐎</m:t>
                        </m:r>
                      </m:oMath>
                    </m:oMathPara>
                  </a14:m>
                  <a:endParaRPr lang="en-US" sz="1200" b="1" dirty="0">
                    <a:ea typeface="Cambria Math" panose="02040503050406030204" pitchFamily="18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b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200" b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 </m:t>
                        </m:r>
                        <m:sSub>
                          <m:sSubPr>
                            <m:ctrlPr>
                              <a:rPr lang="en-US" sz="1200" b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sz="12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b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sz="12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en-US" sz="1200" b="1" dirty="0">
                    <a:ea typeface="Cambria Math" panose="02040503050406030204" pitchFamily="18" charset="0"/>
                  </a:endParaRPr>
                </a:p>
                <a:p>
                  <a:endParaRPr lang="en-US" sz="1200" dirty="0"/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E159FB7-35AC-D9F4-0EAA-2AB78AE45F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1560" y="4766765"/>
                  <a:ext cx="2559740" cy="646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F3E7A9-CE2D-738E-58A4-318D6CC716D5}"/>
                  </a:ext>
                </a:extLst>
              </p:cNvPr>
              <p:cNvSpPr txBox="1"/>
              <p:nvPr/>
            </p:nvSpPr>
            <p:spPr>
              <a:xfrm>
                <a:off x="1989517" y="5043764"/>
                <a:ext cx="29113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𝐂𝐇𝐎</m:t>
                      </m:r>
                      <m:r>
                        <a:rPr lang="en-US" sz="12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</m:t>
                      </m:r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1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𝐎𝐇</m:t>
                      </m:r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endParaRPr lang="en-US" sz="12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F3E7A9-CE2D-738E-58A4-318D6CC71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517" y="5043764"/>
                <a:ext cx="291137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470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768D5-D744-7289-AB29-E45B5485B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4E12C-F8E9-1E2F-CAF0-CCCDA4263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06.07.2022</a:t>
            </a:fld>
            <a:endParaRPr lang="de-CH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1B9AD-1EB5-58D5-0818-64795B98A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E5FC5AE-DE0F-8F8E-0241-09A6BFEA9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221856"/>
              </p:ext>
            </p:extLst>
          </p:nvPr>
        </p:nvGraphicFramePr>
        <p:xfrm>
          <a:off x="1533448" y="920932"/>
          <a:ext cx="9125100" cy="2566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275">
                  <a:extLst>
                    <a:ext uri="{9D8B030D-6E8A-4147-A177-3AD203B41FA5}">
                      <a16:colId xmlns:a16="http://schemas.microsoft.com/office/drawing/2014/main" val="387737244"/>
                    </a:ext>
                  </a:extLst>
                </a:gridCol>
                <a:gridCol w="2281275">
                  <a:extLst>
                    <a:ext uri="{9D8B030D-6E8A-4147-A177-3AD203B41FA5}">
                      <a16:colId xmlns:a16="http://schemas.microsoft.com/office/drawing/2014/main" val="2188587279"/>
                    </a:ext>
                  </a:extLst>
                </a:gridCol>
                <a:gridCol w="2281275">
                  <a:extLst>
                    <a:ext uri="{9D8B030D-6E8A-4147-A177-3AD203B41FA5}">
                      <a16:colId xmlns:a16="http://schemas.microsoft.com/office/drawing/2014/main" val="4166878990"/>
                    </a:ext>
                  </a:extLst>
                </a:gridCol>
                <a:gridCol w="2281275">
                  <a:extLst>
                    <a:ext uri="{9D8B030D-6E8A-4147-A177-3AD203B41FA5}">
                      <a16:colId xmlns:a16="http://schemas.microsoft.com/office/drawing/2014/main" val="1061466087"/>
                    </a:ext>
                  </a:extLst>
                </a:gridCol>
              </a:tblGrid>
              <a:tr h="3328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Reported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Calculated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% difference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575390"/>
                  </a:ext>
                </a:extLst>
              </a:tr>
              <a:tr h="48085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Compressor – B9 </a:t>
                      </a:r>
                    </a:p>
                    <a:p>
                      <a:pPr algn="ctr"/>
                      <a:r>
                        <a:rPr lang="en-US" sz="1400" dirty="0"/>
                        <a:t>(kJ/hr)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197,441.95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40,072,631.76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+ 20196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65985"/>
                  </a:ext>
                </a:extLst>
              </a:tr>
              <a:tr h="48085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dirty="0"/>
                        <a:t> emissions – S13 (Mt/a)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- 20.34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177821"/>
                  </a:ext>
                </a:extLst>
              </a:tr>
              <a:tr h="48085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Condenser duty – B11 (kJ/hr)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52,741,568.80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6,500,870.93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- 87.67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901189"/>
                  </a:ext>
                </a:extLst>
              </a:tr>
              <a:tr h="6788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Reboiler duty – B11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(kJ/hr)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84,956,768.97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18,921,626.96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- 77.73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217123"/>
                  </a:ext>
                </a:extLst>
              </a:tr>
            </a:tbl>
          </a:graphicData>
        </a:graphic>
      </p:graphicFrame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FF4C680-C096-529B-AC8A-136871F2B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306" y="3619162"/>
            <a:ext cx="8165385" cy="2639108"/>
          </a:xfr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C68896A4-FACE-4901-A3E6-755EB1904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5400000" cy="216000"/>
          </a:xfrm>
        </p:spPr>
        <p:txBody>
          <a:bodyPr/>
          <a:lstStyle/>
          <a:p>
            <a:r>
              <a:rPr lang="de-DE" dirty="0"/>
              <a:t>Sustainable </a:t>
            </a:r>
            <a:r>
              <a:rPr lang="de-DE" dirty="0" err="1"/>
              <a:t>Process</a:t>
            </a:r>
            <a:r>
              <a:rPr lang="de-DE" dirty="0"/>
              <a:t> Systems Engineering Lab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D9E030-E50B-B19D-6C6E-A2B5C167CAB5}"/>
              </a:ext>
            </a:extLst>
          </p:cNvPr>
          <p:cNvSpPr/>
          <p:nvPr/>
        </p:nvSpPr>
        <p:spPr>
          <a:xfrm>
            <a:off x="5638800" y="4740442"/>
            <a:ext cx="617621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836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BE03-0095-6FD0-52AF-FEC126D4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DA780-8102-359C-C981-BDAEC8BA9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Complete and optimize the flowsheet for the BAU process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Simulate the complete flowsheet for the proposed process from scratch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Calculate the economics of both the BAU and the proposed process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Find break even prices of raw materials (e.g. carbon dioxide, hydrogen, ethylene, green-ethylene etc.)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00B65-06E3-36B2-AF36-6D42DC1A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06.07.2022</a:t>
            </a:fld>
            <a:endParaRPr lang="de-CH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141C-66FA-1C31-7632-6292FB29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6EBEFAAE-0CB7-B0F7-7D67-78B0B4CF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5400000" cy="216000"/>
          </a:xfrm>
        </p:spPr>
        <p:txBody>
          <a:bodyPr/>
          <a:lstStyle/>
          <a:p>
            <a:r>
              <a:rPr lang="de-DE" dirty="0"/>
              <a:t>Sustainable </a:t>
            </a:r>
            <a:r>
              <a:rPr lang="de-DE" dirty="0" err="1"/>
              <a:t>Process</a:t>
            </a:r>
            <a:r>
              <a:rPr lang="de-DE" dirty="0"/>
              <a:t> Systems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58871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ETH_Vorlage_Praesentation" id="{4B926070-AF32-7F40-B7F4-387B612D789A}" vid="{D694835D-6A8F-E347-A983-608C17A72CEC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ETH presentation template</Template>
  <TotalTime>0</TotalTime>
  <Words>489</Words>
  <Application>Microsoft Office PowerPoint</Application>
  <PresentationFormat>Widescreen</PresentationFormat>
  <Paragraphs>104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Cambria Math</vt:lpstr>
      <vt:lpstr>Symbol</vt:lpstr>
      <vt:lpstr>Wingdings</vt:lpstr>
      <vt:lpstr>ETH Zürich</vt:lpstr>
      <vt:lpstr>Carbon Dioxide to 1-Propanol Weekly Update</vt:lpstr>
      <vt:lpstr>Meeting Minutes (28.06.2022)</vt:lpstr>
      <vt:lpstr>Meeting Minutes (28.06.2022)</vt:lpstr>
      <vt:lpstr>BAU vs Proposed Route</vt:lpstr>
      <vt:lpstr>Simulation (Syngas to 1-Propanol)</vt:lpstr>
      <vt:lpstr>Challenges</vt:lpstr>
      <vt:lpstr>Differences</vt:lpstr>
      <vt:lpstr>Path Forward</vt:lpstr>
    </vt:vector>
  </TitlesOfParts>
  <Company>ETH Zuerich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Dioxide to Propanol – Weekly Update</dc:title>
  <dc:creator>Nabera  Abhinandan</dc:creator>
  <cp:lastModifiedBy>Nabera  Abhinandan</cp:lastModifiedBy>
  <cp:revision>43</cp:revision>
  <dcterms:created xsi:type="dcterms:W3CDTF">2022-07-06T08:30:06Z</dcterms:created>
  <dcterms:modified xsi:type="dcterms:W3CDTF">2022-07-06T14:04:35Z</dcterms:modified>
</cp:coreProperties>
</file>