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1" r:id="rId3"/>
    <p:sldId id="277" r:id="rId4"/>
    <p:sldId id="279" r:id="rId5"/>
    <p:sldId id="282" r:id="rId6"/>
    <p:sldId id="283" r:id="rId7"/>
    <p:sldId id="284" r:id="rId8"/>
    <p:sldId id="285" r:id="rId9"/>
    <p:sldId id="287" r:id="rId10"/>
    <p:sldId id="286" r:id="rId11"/>
    <p:sldId id="281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96" y="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3091A1-A29D-4417-A4E6-FC1950A11D9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074081B-FE05-45D9-9824-A63AD0D5B38E}">
      <dgm:prSet phldrT="[Text]"/>
      <dgm:spPr/>
      <dgm:t>
        <a:bodyPr/>
        <a:lstStyle/>
        <a:p>
          <a:r>
            <a:rPr lang="en-US" dirty="0"/>
            <a:t>POX</a:t>
          </a:r>
        </a:p>
      </dgm:t>
    </dgm:pt>
    <dgm:pt modelId="{D127F8BD-AAF0-4956-97F4-0424AEF5D965}" type="parTrans" cxnId="{FC583E6B-E57A-4453-991E-DB01A060B7E7}">
      <dgm:prSet/>
      <dgm:spPr/>
      <dgm:t>
        <a:bodyPr/>
        <a:lstStyle/>
        <a:p>
          <a:endParaRPr lang="en-US"/>
        </a:p>
      </dgm:t>
    </dgm:pt>
    <dgm:pt modelId="{D08CE691-75F6-4A90-80BD-C32C64A78D87}" type="sibTrans" cxnId="{FC583E6B-E57A-4453-991E-DB01A060B7E7}">
      <dgm:prSet/>
      <dgm:spPr/>
      <dgm:t>
        <a:bodyPr/>
        <a:lstStyle/>
        <a:p>
          <a:endParaRPr lang="en-US"/>
        </a:p>
      </dgm:t>
    </dgm:pt>
    <dgm:pt modelId="{9EBCB6DD-9426-48CF-B02F-9C6E5CEF4225}">
      <dgm:prSet phldrT="[Text]"/>
      <dgm:spPr/>
      <dgm:t>
        <a:bodyPr/>
        <a:lstStyle/>
        <a:p>
          <a:r>
            <a:rPr lang="en-US" dirty="0"/>
            <a:t>TEG dehydration</a:t>
          </a:r>
        </a:p>
        <a:p>
          <a:r>
            <a:rPr lang="en-US" dirty="0"/>
            <a:t>(&lt;0.1 ppm)</a:t>
          </a:r>
        </a:p>
      </dgm:t>
    </dgm:pt>
    <dgm:pt modelId="{6E20B0F3-5E1A-45CA-8289-6CC64BAC9814}" type="parTrans" cxnId="{1414FB73-F15B-42CF-A6C2-3F63FC568B15}">
      <dgm:prSet/>
      <dgm:spPr/>
      <dgm:t>
        <a:bodyPr/>
        <a:lstStyle/>
        <a:p>
          <a:endParaRPr lang="en-US"/>
        </a:p>
      </dgm:t>
    </dgm:pt>
    <dgm:pt modelId="{B7670BBE-4F8C-4DFD-B257-BEBFBDD3949D}" type="sibTrans" cxnId="{1414FB73-F15B-42CF-A6C2-3F63FC568B15}">
      <dgm:prSet/>
      <dgm:spPr/>
      <dgm:t>
        <a:bodyPr/>
        <a:lstStyle/>
        <a:p>
          <a:endParaRPr lang="en-US"/>
        </a:p>
      </dgm:t>
    </dgm:pt>
    <dgm:pt modelId="{86A96079-80E5-4DC9-9669-75FC9FC1192D}">
      <dgm:prSet phldrT="[Text]"/>
      <dgm:spPr/>
      <dgm:t>
        <a:bodyPr/>
        <a:lstStyle/>
        <a:p>
          <a:r>
            <a:rPr lang="en-US" dirty="0"/>
            <a:t>Hydroformylation</a:t>
          </a:r>
        </a:p>
      </dgm:t>
    </dgm:pt>
    <dgm:pt modelId="{171FA4AD-1512-4523-845E-242A88F486F0}" type="parTrans" cxnId="{36A5AC6F-59D2-4CDF-B717-99CFE999EC92}">
      <dgm:prSet/>
      <dgm:spPr/>
      <dgm:t>
        <a:bodyPr/>
        <a:lstStyle/>
        <a:p>
          <a:endParaRPr lang="en-US"/>
        </a:p>
      </dgm:t>
    </dgm:pt>
    <dgm:pt modelId="{E7396B55-B6BF-4209-917A-D3A1D643B96A}" type="sibTrans" cxnId="{36A5AC6F-59D2-4CDF-B717-99CFE999EC92}">
      <dgm:prSet/>
      <dgm:spPr/>
      <dgm:t>
        <a:bodyPr/>
        <a:lstStyle/>
        <a:p>
          <a:endParaRPr lang="en-US"/>
        </a:p>
      </dgm:t>
    </dgm:pt>
    <dgm:pt modelId="{9E78EDEC-641F-434B-9335-C763DDA9714B}">
      <dgm:prSet/>
      <dgm:spPr/>
      <dgm:t>
        <a:bodyPr/>
        <a:lstStyle/>
        <a:p>
          <a:r>
            <a:rPr lang="en-US" dirty="0"/>
            <a:t>Carbon capture</a:t>
          </a:r>
        </a:p>
      </dgm:t>
    </dgm:pt>
    <dgm:pt modelId="{20648780-BA21-4BF5-9EC9-8A5E011182B4}" type="parTrans" cxnId="{CE829C37-F498-41DF-A3B1-95E5241FE717}">
      <dgm:prSet/>
      <dgm:spPr/>
      <dgm:t>
        <a:bodyPr/>
        <a:lstStyle/>
        <a:p>
          <a:endParaRPr lang="en-US"/>
        </a:p>
      </dgm:t>
    </dgm:pt>
    <dgm:pt modelId="{00E659B8-4150-4C33-A702-1ECC439FE30C}" type="sibTrans" cxnId="{CE829C37-F498-41DF-A3B1-95E5241FE717}">
      <dgm:prSet/>
      <dgm:spPr/>
      <dgm:t>
        <a:bodyPr/>
        <a:lstStyle/>
        <a:p>
          <a:endParaRPr lang="en-US"/>
        </a:p>
      </dgm:t>
    </dgm:pt>
    <dgm:pt modelId="{0B91A628-481E-460A-AC44-EC9318B5C93E}">
      <dgm:prSet/>
      <dgm:spPr/>
      <dgm:t>
        <a:bodyPr/>
        <a:lstStyle/>
        <a:p>
          <a:r>
            <a:rPr lang="en-US" dirty="0"/>
            <a:t>Hydrogenation</a:t>
          </a:r>
        </a:p>
      </dgm:t>
    </dgm:pt>
    <dgm:pt modelId="{F4EBF33F-DF58-4E85-9CE2-7ED1372BD9CB}" type="parTrans" cxnId="{3AE27D07-F93F-46A7-928B-6DB98CB5CA84}">
      <dgm:prSet/>
      <dgm:spPr/>
      <dgm:t>
        <a:bodyPr/>
        <a:lstStyle/>
        <a:p>
          <a:endParaRPr lang="en-US"/>
        </a:p>
      </dgm:t>
    </dgm:pt>
    <dgm:pt modelId="{55FE367E-4079-4E39-B2BD-33033C332065}" type="sibTrans" cxnId="{3AE27D07-F93F-46A7-928B-6DB98CB5CA84}">
      <dgm:prSet/>
      <dgm:spPr/>
      <dgm:t>
        <a:bodyPr/>
        <a:lstStyle/>
        <a:p>
          <a:endParaRPr lang="en-US"/>
        </a:p>
      </dgm:t>
    </dgm:pt>
    <dgm:pt modelId="{26AF3ACC-58B4-42A8-B512-7DFC7481CCEA}" type="pres">
      <dgm:prSet presAssocID="{503091A1-A29D-4417-A4E6-FC1950A11D91}" presName="Name0" presStyleCnt="0">
        <dgm:presLayoutVars>
          <dgm:dir/>
          <dgm:resizeHandles val="exact"/>
        </dgm:presLayoutVars>
      </dgm:prSet>
      <dgm:spPr/>
    </dgm:pt>
    <dgm:pt modelId="{F7D55FBD-8D8B-4A95-A09E-1D8374C4CADB}" type="pres">
      <dgm:prSet presAssocID="{D074081B-FE05-45D9-9824-A63AD0D5B38E}" presName="node" presStyleLbl="node1" presStyleIdx="0" presStyleCnt="5">
        <dgm:presLayoutVars>
          <dgm:bulletEnabled val="1"/>
        </dgm:presLayoutVars>
      </dgm:prSet>
      <dgm:spPr/>
    </dgm:pt>
    <dgm:pt modelId="{5FE39BBE-949C-412D-A721-D919BEEEAFE2}" type="pres">
      <dgm:prSet presAssocID="{D08CE691-75F6-4A90-80BD-C32C64A78D87}" presName="sibTrans" presStyleLbl="sibTrans2D1" presStyleIdx="0" presStyleCnt="4"/>
      <dgm:spPr/>
    </dgm:pt>
    <dgm:pt modelId="{2C11686B-2ADF-49C0-8A79-57A74AD52B8E}" type="pres">
      <dgm:prSet presAssocID="{D08CE691-75F6-4A90-80BD-C32C64A78D87}" presName="connectorText" presStyleLbl="sibTrans2D1" presStyleIdx="0" presStyleCnt="4"/>
      <dgm:spPr/>
    </dgm:pt>
    <dgm:pt modelId="{3432130A-72BA-4199-B3A2-E0CDAE43D7BA}" type="pres">
      <dgm:prSet presAssocID="{9E78EDEC-641F-434B-9335-C763DDA9714B}" presName="node" presStyleLbl="node1" presStyleIdx="1" presStyleCnt="5">
        <dgm:presLayoutVars>
          <dgm:bulletEnabled val="1"/>
        </dgm:presLayoutVars>
      </dgm:prSet>
      <dgm:spPr/>
    </dgm:pt>
    <dgm:pt modelId="{68B24DA1-9E3E-442A-82DF-0082B5BA2E5F}" type="pres">
      <dgm:prSet presAssocID="{00E659B8-4150-4C33-A702-1ECC439FE30C}" presName="sibTrans" presStyleLbl="sibTrans2D1" presStyleIdx="1" presStyleCnt="4"/>
      <dgm:spPr/>
    </dgm:pt>
    <dgm:pt modelId="{A6C4CBDB-6135-4677-B477-C5EA65D7C706}" type="pres">
      <dgm:prSet presAssocID="{00E659B8-4150-4C33-A702-1ECC439FE30C}" presName="connectorText" presStyleLbl="sibTrans2D1" presStyleIdx="1" presStyleCnt="4"/>
      <dgm:spPr/>
    </dgm:pt>
    <dgm:pt modelId="{7F4E3943-BB70-444D-BC3F-DCF3DF2ADBE1}" type="pres">
      <dgm:prSet presAssocID="{9EBCB6DD-9426-48CF-B02F-9C6E5CEF4225}" presName="node" presStyleLbl="node1" presStyleIdx="2" presStyleCnt="5">
        <dgm:presLayoutVars>
          <dgm:bulletEnabled val="1"/>
        </dgm:presLayoutVars>
      </dgm:prSet>
      <dgm:spPr/>
    </dgm:pt>
    <dgm:pt modelId="{3C9B41B7-1A2D-4FC3-9D19-60178DE66CB7}" type="pres">
      <dgm:prSet presAssocID="{B7670BBE-4F8C-4DFD-B257-BEBFBDD3949D}" presName="sibTrans" presStyleLbl="sibTrans2D1" presStyleIdx="2" presStyleCnt="4"/>
      <dgm:spPr/>
    </dgm:pt>
    <dgm:pt modelId="{150EB779-B446-4BF2-A1F0-8963E936225C}" type="pres">
      <dgm:prSet presAssocID="{B7670BBE-4F8C-4DFD-B257-BEBFBDD3949D}" presName="connectorText" presStyleLbl="sibTrans2D1" presStyleIdx="2" presStyleCnt="4"/>
      <dgm:spPr/>
    </dgm:pt>
    <dgm:pt modelId="{2C12FF91-661D-4D86-AE18-069F1F7E961F}" type="pres">
      <dgm:prSet presAssocID="{86A96079-80E5-4DC9-9669-75FC9FC1192D}" presName="node" presStyleLbl="node1" presStyleIdx="3" presStyleCnt="5">
        <dgm:presLayoutVars>
          <dgm:bulletEnabled val="1"/>
        </dgm:presLayoutVars>
      </dgm:prSet>
      <dgm:spPr/>
    </dgm:pt>
    <dgm:pt modelId="{13FC52C1-3876-48E7-9BB6-B01E6FD77B44}" type="pres">
      <dgm:prSet presAssocID="{E7396B55-B6BF-4209-917A-D3A1D643B96A}" presName="sibTrans" presStyleLbl="sibTrans2D1" presStyleIdx="3" presStyleCnt="4"/>
      <dgm:spPr/>
    </dgm:pt>
    <dgm:pt modelId="{22B5A134-E09C-4EDD-B6A9-8995D2F30F08}" type="pres">
      <dgm:prSet presAssocID="{E7396B55-B6BF-4209-917A-D3A1D643B96A}" presName="connectorText" presStyleLbl="sibTrans2D1" presStyleIdx="3" presStyleCnt="4"/>
      <dgm:spPr/>
    </dgm:pt>
    <dgm:pt modelId="{75806B4C-D5D2-4A08-9CA0-A471A908D2E8}" type="pres">
      <dgm:prSet presAssocID="{0B91A628-481E-460A-AC44-EC9318B5C93E}" presName="node" presStyleLbl="node1" presStyleIdx="4" presStyleCnt="5">
        <dgm:presLayoutVars>
          <dgm:bulletEnabled val="1"/>
        </dgm:presLayoutVars>
      </dgm:prSet>
      <dgm:spPr/>
    </dgm:pt>
  </dgm:ptLst>
  <dgm:cxnLst>
    <dgm:cxn modelId="{3AE27D07-F93F-46A7-928B-6DB98CB5CA84}" srcId="{503091A1-A29D-4417-A4E6-FC1950A11D91}" destId="{0B91A628-481E-460A-AC44-EC9318B5C93E}" srcOrd="4" destOrd="0" parTransId="{F4EBF33F-DF58-4E85-9CE2-7ED1372BD9CB}" sibTransId="{55FE367E-4079-4E39-B2BD-33033C332065}"/>
    <dgm:cxn modelId="{C8565D0B-1B35-4364-9D0E-E0F9272A3FE3}" type="presOf" srcId="{D08CE691-75F6-4A90-80BD-C32C64A78D87}" destId="{5FE39BBE-949C-412D-A721-D919BEEEAFE2}" srcOrd="0" destOrd="0" presId="urn:microsoft.com/office/officeart/2005/8/layout/process1"/>
    <dgm:cxn modelId="{9BC91C2B-0A86-49EF-AC9E-B2B3EFB66CB2}" type="presOf" srcId="{B7670BBE-4F8C-4DFD-B257-BEBFBDD3949D}" destId="{150EB779-B446-4BF2-A1F0-8963E936225C}" srcOrd="1" destOrd="0" presId="urn:microsoft.com/office/officeart/2005/8/layout/process1"/>
    <dgm:cxn modelId="{CE829C37-F498-41DF-A3B1-95E5241FE717}" srcId="{503091A1-A29D-4417-A4E6-FC1950A11D91}" destId="{9E78EDEC-641F-434B-9335-C763DDA9714B}" srcOrd="1" destOrd="0" parTransId="{20648780-BA21-4BF5-9EC9-8A5E011182B4}" sibTransId="{00E659B8-4150-4C33-A702-1ECC439FE30C}"/>
    <dgm:cxn modelId="{AA267660-1B30-4A4E-B3FA-853DAD62B0A4}" type="presOf" srcId="{503091A1-A29D-4417-A4E6-FC1950A11D91}" destId="{26AF3ACC-58B4-42A8-B512-7DFC7481CCEA}" srcOrd="0" destOrd="0" presId="urn:microsoft.com/office/officeart/2005/8/layout/process1"/>
    <dgm:cxn modelId="{FC583E6B-E57A-4453-991E-DB01A060B7E7}" srcId="{503091A1-A29D-4417-A4E6-FC1950A11D91}" destId="{D074081B-FE05-45D9-9824-A63AD0D5B38E}" srcOrd="0" destOrd="0" parTransId="{D127F8BD-AAF0-4956-97F4-0424AEF5D965}" sibTransId="{D08CE691-75F6-4A90-80BD-C32C64A78D87}"/>
    <dgm:cxn modelId="{36A5AC6F-59D2-4CDF-B717-99CFE999EC92}" srcId="{503091A1-A29D-4417-A4E6-FC1950A11D91}" destId="{86A96079-80E5-4DC9-9669-75FC9FC1192D}" srcOrd="3" destOrd="0" parTransId="{171FA4AD-1512-4523-845E-242A88F486F0}" sibTransId="{E7396B55-B6BF-4209-917A-D3A1D643B96A}"/>
    <dgm:cxn modelId="{3C036572-A574-43A6-954C-29BD21385C98}" type="presOf" srcId="{00E659B8-4150-4C33-A702-1ECC439FE30C}" destId="{68B24DA1-9E3E-442A-82DF-0082B5BA2E5F}" srcOrd="0" destOrd="0" presId="urn:microsoft.com/office/officeart/2005/8/layout/process1"/>
    <dgm:cxn modelId="{1414FB73-F15B-42CF-A6C2-3F63FC568B15}" srcId="{503091A1-A29D-4417-A4E6-FC1950A11D91}" destId="{9EBCB6DD-9426-48CF-B02F-9C6E5CEF4225}" srcOrd="2" destOrd="0" parTransId="{6E20B0F3-5E1A-45CA-8289-6CC64BAC9814}" sibTransId="{B7670BBE-4F8C-4DFD-B257-BEBFBDD3949D}"/>
    <dgm:cxn modelId="{C2D45057-8C73-444C-B8A6-473C8906E5E9}" type="presOf" srcId="{9E78EDEC-641F-434B-9335-C763DDA9714B}" destId="{3432130A-72BA-4199-B3A2-E0CDAE43D7BA}" srcOrd="0" destOrd="0" presId="urn:microsoft.com/office/officeart/2005/8/layout/process1"/>
    <dgm:cxn modelId="{79EABC7F-B86F-4CA4-B6F0-9C9E4CD8B442}" type="presOf" srcId="{D074081B-FE05-45D9-9824-A63AD0D5B38E}" destId="{F7D55FBD-8D8B-4A95-A09E-1D8374C4CADB}" srcOrd="0" destOrd="0" presId="urn:microsoft.com/office/officeart/2005/8/layout/process1"/>
    <dgm:cxn modelId="{29D6C980-F0C7-42A2-9E47-6B255DDC5552}" type="presOf" srcId="{E7396B55-B6BF-4209-917A-D3A1D643B96A}" destId="{13FC52C1-3876-48E7-9BB6-B01E6FD77B44}" srcOrd="0" destOrd="0" presId="urn:microsoft.com/office/officeart/2005/8/layout/process1"/>
    <dgm:cxn modelId="{01C9D685-20BF-425D-941E-816A6A2E9C54}" type="presOf" srcId="{00E659B8-4150-4C33-A702-1ECC439FE30C}" destId="{A6C4CBDB-6135-4677-B477-C5EA65D7C706}" srcOrd="1" destOrd="0" presId="urn:microsoft.com/office/officeart/2005/8/layout/process1"/>
    <dgm:cxn modelId="{8F46BE9A-73E8-49F7-A992-DF0108F1FC43}" type="presOf" srcId="{E7396B55-B6BF-4209-917A-D3A1D643B96A}" destId="{22B5A134-E09C-4EDD-B6A9-8995D2F30F08}" srcOrd="1" destOrd="0" presId="urn:microsoft.com/office/officeart/2005/8/layout/process1"/>
    <dgm:cxn modelId="{2D31FBB3-9119-4072-B98E-B5220BA81DDB}" type="presOf" srcId="{86A96079-80E5-4DC9-9669-75FC9FC1192D}" destId="{2C12FF91-661D-4D86-AE18-069F1F7E961F}" srcOrd="0" destOrd="0" presId="urn:microsoft.com/office/officeart/2005/8/layout/process1"/>
    <dgm:cxn modelId="{20360FB9-48FC-4924-BADD-289B3E3CC7B2}" type="presOf" srcId="{0B91A628-481E-460A-AC44-EC9318B5C93E}" destId="{75806B4C-D5D2-4A08-9CA0-A471A908D2E8}" srcOrd="0" destOrd="0" presId="urn:microsoft.com/office/officeart/2005/8/layout/process1"/>
    <dgm:cxn modelId="{DF60D3CF-887E-4811-A6B2-37C9F7C95C6D}" type="presOf" srcId="{B7670BBE-4F8C-4DFD-B257-BEBFBDD3949D}" destId="{3C9B41B7-1A2D-4FC3-9D19-60178DE66CB7}" srcOrd="0" destOrd="0" presId="urn:microsoft.com/office/officeart/2005/8/layout/process1"/>
    <dgm:cxn modelId="{821E9CE2-A4DF-439A-B3E5-A160AF2218CF}" type="presOf" srcId="{9EBCB6DD-9426-48CF-B02F-9C6E5CEF4225}" destId="{7F4E3943-BB70-444D-BC3F-DCF3DF2ADBE1}" srcOrd="0" destOrd="0" presId="urn:microsoft.com/office/officeart/2005/8/layout/process1"/>
    <dgm:cxn modelId="{49ED3CF7-253F-42AF-B782-27AD6969D196}" type="presOf" srcId="{D08CE691-75F6-4A90-80BD-C32C64A78D87}" destId="{2C11686B-2ADF-49C0-8A79-57A74AD52B8E}" srcOrd="1" destOrd="0" presId="urn:microsoft.com/office/officeart/2005/8/layout/process1"/>
    <dgm:cxn modelId="{530C2E8A-E551-4F4A-B0C8-310ECDBE2BDC}" type="presParOf" srcId="{26AF3ACC-58B4-42A8-B512-7DFC7481CCEA}" destId="{F7D55FBD-8D8B-4A95-A09E-1D8374C4CADB}" srcOrd="0" destOrd="0" presId="urn:microsoft.com/office/officeart/2005/8/layout/process1"/>
    <dgm:cxn modelId="{B6CF2EA2-D1FC-44DD-8008-38D9A0926742}" type="presParOf" srcId="{26AF3ACC-58B4-42A8-B512-7DFC7481CCEA}" destId="{5FE39BBE-949C-412D-A721-D919BEEEAFE2}" srcOrd="1" destOrd="0" presId="urn:microsoft.com/office/officeart/2005/8/layout/process1"/>
    <dgm:cxn modelId="{775FCC72-54C9-4D13-80AB-0C35F0F3ECAA}" type="presParOf" srcId="{5FE39BBE-949C-412D-A721-D919BEEEAFE2}" destId="{2C11686B-2ADF-49C0-8A79-57A74AD52B8E}" srcOrd="0" destOrd="0" presId="urn:microsoft.com/office/officeart/2005/8/layout/process1"/>
    <dgm:cxn modelId="{FCEE40C4-B449-4581-AD81-6DDFC8644FFC}" type="presParOf" srcId="{26AF3ACC-58B4-42A8-B512-7DFC7481CCEA}" destId="{3432130A-72BA-4199-B3A2-E0CDAE43D7BA}" srcOrd="2" destOrd="0" presId="urn:microsoft.com/office/officeart/2005/8/layout/process1"/>
    <dgm:cxn modelId="{C486B076-D1AA-47F4-9656-AC33616CEFB1}" type="presParOf" srcId="{26AF3ACC-58B4-42A8-B512-7DFC7481CCEA}" destId="{68B24DA1-9E3E-442A-82DF-0082B5BA2E5F}" srcOrd="3" destOrd="0" presId="urn:microsoft.com/office/officeart/2005/8/layout/process1"/>
    <dgm:cxn modelId="{93FFAAC5-8B5A-416B-BF4B-A4368FDCEB6D}" type="presParOf" srcId="{68B24DA1-9E3E-442A-82DF-0082B5BA2E5F}" destId="{A6C4CBDB-6135-4677-B477-C5EA65D7C706}" srcOrd="0" destOrd="0" presId="urn:microsoft.com/office/officeart/2005/8/layout/process1"/>
    <dgm:cxn modelId="{E7F2355A-6807-412E-A995-F7095DB333F3}" type="presParOf" srcId="{26AF3ACC-58B4-42A8-B512-7DFC7481CCEA}" destId="{7F4E3943-BB70-444D-BC3F-DCF3DF2ADBE1}" srcOrd="4" destOrd="0" presId="urn:microsoft.com/office/officeart/2005/8/layout/process1"/>
    <dgm:cxn modelId="{4A43F3AA-AEC1-4C15-A76B-A0242E7BD372}" type="presParOf" srcId="{26AF3ACC-58B4-42A8-B512-7DFC7481CCEA}" destId="{3C9B41B7-1A2D-4FC3-9D19-60178DE66CB7}" srcOrd="5" destOrd="0" presId="urn:microsoft.com/office/officeart/2005/8/layout/process1"/>
    <dgm:cxn modelId="{0E49407A-3A92-4474-8D16-96951867D84A}" type="presParOf" srcId="{3C9B41B7-1A2D-4FC3-9D19-60178DE66CB7}" destId="{150EB779-B446-4BF2-A1F0-8963E936225C}" srcOrd="0" destOrd="0" presId="urn:microsoft.com/office/officeart/2005/8/layout/process1"/>
    <dgm:cxn modelId="{AF101F5A-D52B-4550-9ED6-B85713AF63A6}" type="presParOf" srcId="{26AF3ACC-58B4-42A8-B512-7DFC7481CCEA}" destId="{2C12FF91-661D-4D86-AE18-069F1F7E961F}" srcOrd="6" destOrd="0" presId="urn:microsoft.com/office/officeart/2005/8/layout/process1"/>
    <dgm:cxn modelId="{78E1F19A-8D83-4CE5-9859-4FBB00B5989C}" type="presParOf" srcId="{26AF3ACC-58B4-42A8-B512-7DFC7481CCEA}" destId="{13FC52C1-3876-48E7-9BB6-B01E6FD77B44}" srcOrd="7" destOrd="0" presId="urn:microsoft.com/office/officeart/2005/8/layout/process1"/>
    <dgm:cxn modelId="{2E38426A-73BE-4A57-A355-27EC64FFCEA5}" type="presParOf" srcId="{13FC52C1-3876-48E7-9BB6-B01E6FD77B44}" destId="{22B5A134-E09C-4EDD-B6A9-8995D2F30F08}" srcOrd="0" destOrd="0" presId="urn:microsoft.com/office/officeart/2005/8/layout/process1"/>
    <dgm:cxn modelId="{5D1D22E0-7E06-4980-B3CE-F0DC3E8F66A9}" type="presParOf" srcId="{26AF3ACC-58B4-42A8-B512-7DFC7481CCEA}" destId="{75806B4C-D5D2-4A08-9CA0-A471A908D2E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55FBD-8D8B-4A95-A09E-1D8374C4CADB}">
      <dsp:nvSpPr>
        <dsp:cNvPr id="0" name=""/>
        <dsp:cNvSpPr/>
      </dsp:nvSpPr>
      <dsp:spPr>
        <a:xfrm>
          <a:off x="5070" y="2075084"/>
          <a:ext cx="1571999" cy="9431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POX</a:t>
          </a:r>
        </a:p>
      </dsp:txBody>
      <dsp:txXfrm>
        <a:off x="32695" y="2102709"/>
        <a:ext cx="1516749" cy="887949"/>
      </dsp:txXfrm>
    </dsp:sp>
    <dsp:sp modelId="{5FE39BBE-949C-412D-A721-D919BEEEAFE2}">
      <dsp:nvSpPr>
        <dsp:cNvPr id="0" name=""/>
        <dsp:cNvSpPr/>
      </dsp:nvSpPr>
      <dsp:spPr>
        <a:xfrm>
          <a:off x="1734270" y="2351756"/>
          <a:ext cx="333263" cy="389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734270" y="2429727"/>
        <a:ext cx="233284" cy="233913"/>
      </dsp:txXfrm>
    </dsp:sp>
    <dsp:sp modelId="{3432130A-72BA-4199-B3A2-E0CDAE43D7BA}">
      <dsp:nvSpPr>
        <dsp:cNvPr id="0" name=""/>
        <dsp:cNvSpPr/>
      </dsp:nvSpPr>
      <dsp:spPr>
        <a:xfrm>
          <a:off x="2205870" y="2075084"/>
          <a:ext cx="1571999" cy="9431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Carbon capture</a:t>
          </a:r>
        </a:p>
      </dsp:txBody>
      <dsp:txXfrm>
        <a:off x="2233495" y="2102709"/>
        <a:ext cx="1516749" cy="887949"/>
      </dsp:txXfrm>
    </dsp:sp>
    <dsp:sp modelId="{68B24DA1-9E3E-442A-82DF-0082B5BA2E5F}">
      <dsp:nvSpPr>
        <dsp:cNvPr id="0" name=""/>
        <dsp:cNvSpPr/>
      </dsp:nvSpPr>
      <dsp:spPr>
        <a:xfrm>
          <a:off x="3935070" y="2351756"/>
          <a:ext cx="333263" cy="389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935070" y="2429727"/>
        <a:ext cx="233284" cy="233913"/>
      </dsp:txXfrm>
    </dsp:sp>
    <dsp:sp modelId="{7F4E3943-BB70-444D-BC3F-DCF3DF2ADBE1}">
      <dsp:nvSpPr>
        <dsp:cNvPr id="0" name=""/>
        <dsp:cNvSpPr/>
      </dsp:nvSpPr>
      <dsp:spPr>
        <a:xfrm>
          <a:off x="4406670" y="2075084"/>
          <a:ext cx="1571999" cy="9431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TEG dehydration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(&lt;0.1 ppm)</a:t>
          </a:r>
        </a:p>
      </dsp:txBody>
      <dsp:txXfrm>
        <a:off x="4434295" y="2102709"/>
        <a:ext cx="1516749" cy="887949"/>
      </dsp:txXfrm>
    </dsp:sp>
    <dsp:sp modelId="{3C9B41B7-1A2D-4FC3-9D19-60178DE66CB7}">
      <dsp:nvSpPr>
        <dsp:cNvPr id="0" name=""/>
        <dsp:cNvSpPr/>
      </dsp:nvSpPr>
      <dsp:spPr>
        <a:xfrm>
          <a:off x="6135870" y="2351756"/>
          <a:ext cx="333263" cy="389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135870" y="2429727"/>
        <a:ext cx="233284" cy="233913"/>
      </dsp:txXfrm>
    </dsp:sp>
    <dsp:sp modelId="{2C12FF91-661D-4D86-AE18-069F1F7E961F}">
      <dsp:nvSpPr>
        <dsp:cNvPr id="0" name=""/>
        <dsp:cNvSpPr/>
      </dsp:nvSpPr>
      <dsp:spPr>
        <a:xfrm>
          <a:off x="6607470" y="2075084"/>
          <a:ext cx="1571999" cy="9431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Hydroformylation</a:t>
          </a:r>
        </a:p>
      </dsp:txBody>
      <dsp:txXfrm>
        <a:off x="6635095" y="2102709"/>
        <a:ext cx="1516749" cy="887949"/>
      </dsp:txXfrm>
    </dsp:sp>
    <dsp:sp modelId="{13FC52C1-3876-48E7-9BB6-B01E6FD77B44}">
      <dsp:nvSpPr>
        <dsp:cNvPr id="0" name=""/>
        <dsp:cNvSpPr/>
      </dsp:nvSpPr>
      <dsp:spPr>
        <a:xfrm>
          <a:off x="8336670" y="2351756"/>
          <a:ext cx="333263" cy="389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8336670" y="2429727"/>
        <a:ext cx="233284" cy="233913"/>
      </dsp:txXfrm>
    </dsp:sp>
    <dsp:sp modelId="{75806B4C-D5D2-4A08-9CA0-A471A908D2E8}">
      <dsp:nvSpPr>
        <dsp:cNvPr id="0" name=""/>
        <dsp:cNvSpPr/>
      </dsp:nvSpPr>
      <dsp:spPr>
        <a:xfrm>
          <a:off x="8808270" y="2075084"/>
          <a:ext cx="1571999" cy="9431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Hydrogenation</a:t>
          </a:r>
        </a:p>
      </dsp:txBody>
      <dsp:txXfrm>
        <a:off x="8835895" y="2102709"/>
        <a:ext cx="1516749" cy="8879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20.07.2022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20.07.2022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233538"/>
            <a:ext cx="7467601" cy="2772000"/>
          </a:xfrm>
        </p:spPr>
        <p:txBody>
          <a:bodyPr/>
          <a:lstStyle/>
          <a:p>
            <a:r>
              <a:rPr lang="de-DE" dirty="0"/>
              <a:t>Carbon Dioxide to 1-Propanol</a:t>
            </a:r>
            <a:br>
              <a:rPr lang="de-DE" dirty="0"/>
            </a:br>
            <a:r>
              <a:rPr lang="de-DE" dirty="0"/>
              <a:t>Weekly Update</a:t>
            </a:r>
            <a:endParaRPr lang="de-CH" sz="200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4453" y="3959875"/>
            <a:ext cx="4680000" cy="1008000"/>
          </a:xfrm>
        </p:spPr>
        <p:txBody>
          <a:bodyPr/>
          <a:lstStyle/>
          <a:p>
            <a:r>
              <a:rPr lang="de-DE" b="1" dirty="0"/>
              <a:t>Abhinandan Nabera</a:t>
            </a:r>
          </a:p>
          <a:p>
            <a:r>
              <a:rPr lang="de-DE" dirty="0"/>
              <a:t>20. </a:t>
            </a:r>
            <a:r>
              <a:rPr lang="de-DE" dirty="0" err="1"/>
              <a:t>July</a:t>
            </a:r>
            <a:r>
              <a:rPr lang="de-DE" dirty="0"/>
              <a:t> 2022</a:t>
            </a:r>
            <a:endParaRPr lang="de-CH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11158" y="355832"/>
            <a:ext cx="3049005" cy="346715"/>
          </a:xfrm>
        </p:spPr>
        <p:txBody>
          <a:bodyPr/>
          <a:lstStyle/>
          <a:p>
            <a:r>
              <a:rPr lang="de-DE" dirty="0"/>
              <a:t>Institute for Chemical and Bioengineering</a:t>
            </a:r>
          </a:p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pic>
        <p:nvPicPr>
          <p:cNvPr id="8" name="Bildplatzhalter 12">
            <a:extLst>
              <a:ext uri="{FF2B5EF4-FFF2-40B4-BE49-F238E27FC236}">
                <a16:creationId xmlns:a16="http://schemas.microsoft.com/office/drawing/2014/main" id="{A8263AB7-96B1-713F-8090-21CF1977D44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3045" y="6431200"/>
            <a:ext cx="78711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Meeting </a:t>
            </a:r>
            <a:r>
              <a:rPr lang="de-DE" dirty="0" err="1"/>
              <a:t>Minutes</a:t>
            </a:r>
            <a:r>
              <a:rPr lang="de-DE" dirty="0"/>
              <a:t> (06.07.2022)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de-DE" dirty="0" err="1"/>
              <a:t>Stoichiometric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, </a:t>
            </a:r>
            <a:r>
              <a:rPr lang="de-DE" dirty="0" err="1"/>
              <a:t>working</a:t>
            </a:r>
            <a:r>
              <a:rPr lang="de-DE" dirty="0"/>
              <a:t> on </a:t>
            </a:r>
            <a:r>
              <a:rPr lang="de-DE" dirty="0" err="1"/>
              <a:t>simulating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BAU </a:t>
            </a:r>
            <a:r>
              <a:rPr lang="de-DE" dirty="0" err="1"/>
              <a:t>process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35A4E9-F276-8BE5-14D7-C0A39B3F7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9327" y="1815382"/>
            <a:ext cx="7726555" cy="449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BAU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Proposed</a:t>
            </a:r>
            <a:r>
              <a:rPr lang="de-DE" dirty="0"/>
              <a:t> Route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705" y="1089000"/>
            <a:ext cx="10728325" cy="468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de-DE" dirty="0" err="1"/>
              <a:t>Essentially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is</a:t>
            </a:r>
            <a:endParaRPr lang="de-DE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de-DE" dirty="0"/>
              <a:t>BAU: </a:t>
            </a:r>
            <a:r>
              <a:rPr lang="de-DE" dirty="0" err="1"/>
              <a:t>syngas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steam</a:t>
            </a:r>
            <a:r>
              <a:rPr lang="de-DE" dirty="0"/>
              <a:t> </a:t>
            </a:r>
            <a:r>
              <a:rPr lang="de-DE" dirty="0" err="1"/>
              <a:t>reforming</a:t>
            </a:r>
            <a:endParaRPr lang="de-DE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de-DE" dirty="0" err="1"/>
              <a:t>Proposed</a:t>
            </a:r>
            <a:r>
              <a:rPr lang="de-DE" dirty="0"/>
              <a:t> route: </a:t>
            </a:r>
            <a:r>
              <a:rPr lang="de-DE" dirty="0" err="1"/>
              <a:t>syngas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carbon</a:t>
            </a:r>
            <a:r>
              <a:rPr lang="de-DE" dirty="0"/>
              <a:t> </a:t>
            </a:r>
            <a:r>
              <a:rPr lang="de-DE" dirty="0" err="1"/>
              <a:t>dioxide</a:t>
            </a:r>
            <a:endParaRPr lang="de-DE" dirty="0"/>
          </a:p>
          <a:p>
            <a:pPr>
              <a:buFont typeface="Wingdings" panose="05000000000000000000" pitchFamily="2" charset="2"/>
              <a:buChar char="v"/>
            </a:pP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8BFF2-5DEB-4FE4-A3E3-C18FD3A3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947E-D2DB-4F76-9588-775FC8D85F8C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71F539-3E20-6E74-3918-228381041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816" y="2694893"/>
            <a:ext cx="7084365" cy="3122233"/>
          </a:xfrm>
          <a:prstGeom prst="rect">
            <a:avLst/>
          </a:prstGeom>
          <a:ln w="28575">
            <a:solidFill>
              <a:srgbClr val="00B050"/>
            </a:solidFill>
            <a:prstDash val="dash"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A76E28E-CD52-3401-5CAB-0BD80E707350}"/>
              </a:ext>
            </a:extLst>
          </p:cNvPr>
          <p:cNvSpPr/>
          <p:nvPr/>
        </p:nvSpPr>
        <p:spPr>
          <a:xfrm>
            <a:off x="2743026" y="4195011"/>
            <a:ext cx="4323522" cy="1491914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16B588-FB98-0052-ED4F-2BD824F6B902}"/>
              </a:ext>
            </a:extLst>
          </p:cNvPr>
          <p:cNvSpPr txBox="1"/>
          <p:nvPr/>
        </p:nvSpPr>
        <p:spPr>
          <a:xfrm>
            <a:off x="8282209" y="2417894"/>
            <a:ext cx="2005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Proposed Method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D307C4-73F6-4614-00F4-E732F167D77F}"/>
              </a:ext>
            </a:extLst>
          </p:cNvPr>
          <p:cNvSpPr txBox="1"/>
          <p:nvPr/>
        </p:nvSpPr>
        <p:spPr>
          <a:xfrm>
            <a:off x="6495756" y="5185338"/>
            <a:ext cx="597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BAU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CFA059-81EE-962E-08B4-843515F6A7B5}"/>
              </a:ext>
            </a:extLst>
          </p:cNvPr>
          <p:cNvSpPr txBox="1"/>
          <p:nvPr/>
        </p:nvSpPr>
        <p:spPr>
          <a:xfrm>
            <a:off x="2871362" y="4880538"/>
            <a:ext cx="9092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Hydrogenation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747173-92E5-87E0-AE3F-0F5808C62D6F}"/>
              </a:ext>
            </a:extLst>
          </p:cNvPr>
          <p:cNvSpPr txBox="1"/>
          <p:nvPr/>
        </p:nvSpPr>
        <p:spPr>
          <a:xfrm>
            <a:off x="6052182" y="4982671"/>
            <a:ext cx="1040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Hydroformylation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938FA5-5968-ED0D-3EC3-FEE918084A72}"/>
              </a:ext>
            </a:extLst>
          </p:cNvPr>
          <p:cNvSpPr txBox="1"/>
          <p:nvPr/>
        </p:nvSpPr>
        <p:spPr>
          <a:xfrm>
            <a:off x="5004962" y="3656246"/>
            <a:ext cx="5036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RWGS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9B8D964-379E-E043-E986-C4CE45F8D0ED}"/>
              </a:ext>
            </a:extLst>
          </p:cNvPr>
          <p:cNvCxnSpPr/>
          <p:nvPr/>
        </p:nvCxnSpPr>
        <p:spPr>
          <a:xfrm flipV="1">
            <a:off x="5871411" y="5185338"/>
            <a:ext cx="561473" cy="2769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3A108DC-7EE9-4ED8-2EE1-F54DBBA3CEA5}"/>
              </a:ext>
            </a:extLst>
          </p:cNvPr>
          <p:cNvSpPr txBox="1"/>
          <p:nvPr/>
        </p:nvSpPr>
        <p:spPr>
          <a:xfrm>
            <a:off x="5404737" y="5413714"/>
            <a:ext cx="10647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C00000"/>
                </a:solidFill>
              </a:rPr>
              <a:t>Syngas from SMR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8D98D1-FCB4-EC03-5149-40E2531DAA86}"/>
                  </a:ext>
                </a:extLst>
              </p:cNvPr>
              <p:cNvSpPr txBox="1"/>
              <p:nvPr/>
            </p:nvSpPr>
            <p:spPr>
              <a:xfrm>
                <a:off x="7452142" y="680240"/>
                <a:ext cx="413025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Main reactions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RWGS: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𝐂𝐎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𝐂𝐎</m:t>
                    </m:r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𝐎</m:t>
                    </m:r>
                  </m:oMath>
                </a14:m>
                <a:endParaRPr lang="en-US" sz="12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Hydroformylation: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0" smtClean="0">
                        <a:latin typeface="Cambria Math" panose="02040503050406030204" pitchFamily="18" charset="0"/>
                      </a:rPr>
                      <m:t>𝐂𝐎</m:t>
                    </m:r>
                    <m:r>
                      <a:rPr lang="en-US" sz="1200" b="1" i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𝐂𝐇𝐎</m:t>
                    </m:r>
                  </m:oMath>
                </a14:m>
                <a:endParaRPr lang="en-US" sz="12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Hydrogenation: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𝐂𝐇𝐎</m:t>
                    </m:r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𝐎𝐇</m:t>
                    </m:r>
                  </m:oMath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r>
                  <a:rPr lang="en-US" sz="1200" dirty="0"/>
                  <a:t>Side reactions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   Hydroformylation: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8D98D1-FCB4-EC03-5149-40E2531DA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142" y="680240"/>
                <a:ext cx="4130258" cy="1384995"/>
              </a:xfrm>
              <a:prstGeom prst="rect">
                <a:avLst/>
              </a:prstGeom>
              <a:blipFill>
                <a:blip r:embed="rId3"/>
                <a:stretch>
                  <a:fillRect t="-881" b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817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11" grpId="0"/>
      <p:bldP spid="12" grpId="0"/>
      <p:bldP spid="13" grpId="0"/>
      <p:bldP spid="14" grpId="0"/>
      <p:bldP spid="15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BE03-0095-6FD0-52AF-FEC126D4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Flowsheet – BAU Process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EC6005E-8A52-0486-A94A-A27F8B3675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4176706"/>
              </p:ext>
            </p:extLst>
          </p:nvPr>
        </p:nvGraphicFramePr>
        <p:xfrm>
          <a:off x="913532" y="882315"/>
          <a:ext cx="10385341" cy="5093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0B65-06E3-36B2-AF36-6D42DC1A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141C-66FA-1C31-7632-6292FB29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EBEFAAE-0CB7-B0F7-7D67-78B0B4CF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B9E3ACE-FCDC-2CF8-33E4-68993D8F5EEE}"/>
              </a:ext>
            </a:extLst>
          </p:cNvPr>
          <p:cNvCxnSpPr/>
          <p:nvPr/>
        </p:nvCxnSpPr>
        <p:spPr>
          <a:xfrm rot="16200000" flipH="1">
            <a:off x="661737" y="2217821"/>
            <a:ext cx="1147010" cy="33688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E6A3969-8014-B0A0-ADE2-172C2F4F999F}"/>
              </a:ext>
            </a:extLst>
          </p:cNvPr>
          <p:cNvCxnSpPr>
            <a:cxnSpLocks/>
          </p:cNvCxnSpPr>
          <p:nvPr/>
        </p:nvCxnSpPr>
        <p:spPr>
          <a:xfrm rot="5400000">
            <a:off x="1607219" y="2216819"/>
            <a:ext cx="1147010" cy="3388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B6A5BE7-1CA8-0AE5-5608-B5722F076CF5}"/>
              </a:ext>
            </a:extLst>
          </p:cNvPr>
          <p:cNvSpPr txBox="1"/>
          <p:nvPr/>
        </p:nvSpPr>
        <p:spPr>
          <a:xfrm>
            <a:off x="662683" y="1550473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Natural gas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96C771-B94F-30EA-86BD-4F3016B2A227}"/>
              </a:ext>
            </a:extLst>
          </p:cNvPr>
          <p:cNvSpPr txBox="1"/>
          <p:nvPr/>
        </p:nvSpPr>
        <p:spPr>
          <a:xfrm>
            <a:off x="1993340" y="1550472"/>
            <a:ext cx="713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Oxygen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E0A927-7CC2-84BC-3691-C6DF4448757F}"/>
              </a:ext>
            </a:extLst>
          </p:cNvPr>
          <p:cNvCxnSpPr/>
          <p:nvPr/>
        </p:nvCxnSpPr>
        <p:spPr>
          <a:xfrm>
            <a:off x="8293768" y="1981200"/>
            <a:ext cx="0" cy="978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235A262-22F3-697A-BFA5-260AB50C7177}"/>
              </a:ext>
            </a:extLst>
          </p:cNvPr>
          <p:cNvSpPr txBox="1"/>
          <p:nvPr/>
        </p:nvSpPr>
        <p:spPr>
          <a:xfrm>
            <a:off x="7903276" y="1737412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Ethylene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224B5A3-37F8-275A-56AA-D7BB798B6547}"/>
              </a:ext>
            </a:extLst>
          </p:cNvPr>
          <p:cNvCxnSpPr>
            <a:cxnSpLocks/>
          </p:cNvCxnSpPr>
          <p:nvPr/>
        </p:nvCxnSpPr>
        <p:spPr>
          <a:xfrm>
            <a:off x="10473692" y="1981199"/>
            <a:ext cx="0" cy="978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6C3A357-DA57-B4C4-F391-94C9309D20D4}"/>
              </a:ext>
            </a:extLst>
          </p:cNvPr>
          <p:cNvSpPr txBox="1"/>
          <p:nvPr/>
        </p:nvSpPr>
        <p:spPr>
          <a:xfrm>
            <a:off x="9746570" y="1728018"/>
            <a:ext cx="1454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Make up hydrogen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08D87-13A3-0CEF-5A5B-969D9AB849C3}"/>
                  </a:ext>
                </a:extLst>
              </p:cNvPr>
              <p:cNvSpPr txBox="1"/>
              <p:nvPr/>
            </p:nvSpPr>
            <p:spPr>
              <a:xfrm>
                <a:off x="6291830" y="4520424"/>
                <a:ext cx="25597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𝐂𝐎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𝐂𝐇𝐎</m:t>
                      </m:r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b="1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B08D87-13A3-0CEF-5A5B-969D9AB84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830" y="4520424"/>
                <a:ext cx="2559740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1BFDD9D-BB26-F3AF-9B88-737AC0D0E379}"/>
                  </a:ext>
                </a:extLst>
              </p:cNvPr>
              <p:cNvSpPr txBox="1"/>
              <p:nvPr/>
            </p:nvSpPr>
            <p:spPr>
              <a:xfrm>
                <a:off x="9018005" y="3925556"/>
                <a:ext cx="29113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𝐂𝐇𝐎</m:t>
                      </m:r>
                      <m:r>
                        <a:rPr lang="en-US" sz="12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𝐂𝐇</m:t>
                          </m:r>
                        </m:e>
                        <m:sub>
                          <m:r>
                            <a:rPr lang="en-US" sz="12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𝐎𝐇</m:t>
                      </m:r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1BFDD9D-BB26-F3AF-9B88-737AC0D0E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005" y="3925556"/>
                <a:ext cx="2911374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4D2ED9F-5339-A6D5-C349-1250B050C778}"/>
                  </a:ext>
                </a:extLst>
              </p:cNvPr>
              <p:cNvSpPr txBox="1"/>
              <p:nvPr/>
            </p:nvSpPr>
            <p:spPr>
              <a:xfrm>
                <a:off x="731837" y="3845054"/>
                <a:ext cx="2008307" cy="6226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𝐂</m:t>
                      </m:r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𝐂𝐎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200" b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𝟐𝐇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b="1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4D2ED9F-5339-A6D5-C349-1250B050C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37" y="3845054"/>
                <a:ext cx="2008307" cy="6226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9C2045-CFC3-841D-3F95-0A04E84070F3}"/>
              </a:ext>
            </a:extLst>
          </p:cNvPr>
          <p:cNvCxnSpPr>
            <a:endCxn id="34" idx="0"/>
          </p:cNvCxnSpPr>
          <p:nvPr/>
        </p:nvCxnSpPr>
        <p:spPr>
          <a:xfrm flipH="1">
            <a:off x="7571700" y="3898232"/>
            <a:ext cx="587282" cy="62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706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BE03-0095-6FD0-52AF-FEC126D4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Aspen Screenshot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0B65-06E3-36B2-AF36-6D42DC1A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141C-66FA-1C31-7632-6292FB29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EBEFAAE-0CB7-B0F7-7D67-78B0B4CF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74ECA1-12A8-DBA2-660E-7CE17EEE9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0705"/>
            <a:ext cx="12192000" cy="265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63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BE03-0095-6FD0-52AF-FEC126D4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 Integration Screenshot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0B65-06E3-36B2-AF36-6D42DC1A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141C-66FA-1C31-7632-6292FB29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EBEFAAE-0CB7-B0F7-7D67-78B0B4CF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D911E0-C5D2-D5F2-313F-37A6EBB47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76" y="1034864"/>
            <a:ext cx="10963045" cy="506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89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BE03-0095-6FD0-52AF-FEC126D4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CAPEX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0B65-06E3-36B2-AF36-6D42DC1A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141C-66FA-1C31-7632-6292FB29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EBEFAAE-0CB7-B0F7-7D67-78B0B4CF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0D3EED-862A-738D-2A6E-7889EC2D0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276" y="1074289"/>
            <a:ext cx="5809445" cy="482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032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BE03-0095-6FD0-52AF-FEC126D4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Economics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0B65-06E3-36B2-AF36-6D42DC1A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141C-66FA-1C31-7632-6292FB29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EBEFAAE-0CB7-B0F7-7D67-78B0B4CF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91166-E4F9-3FA9-EC02-65C310263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441" y="922792"/>
            <a:ext cx="9569116" cy="556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540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75EA9-4060-68D4-0072-26176BC0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Economics Summary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AD1EEF7-F41E-65E1-C3DE-267E3EAB46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7991937"/>
              </p:ext>
            </p:extLst>
          </p:nvPr>
        </p:nvGraphicFramePr>
        <p:xfrm>
          <a:off x="1318042" y="1251585"/>
          <a:ext cx="2146300" cy="217741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053987">
                  <a:extLst>
                    <a:ext uri="{9D8B030D-6E8A-4147-A177-3AD203B41FA5}">
                      <a16:colId xmlns:a16="http://schemas.microsoft.com/office/drawing/2014/main" val="2303699900"/>
                    </a:ext>
                  </a:extLst>
                </a:gridCol>
                <a:gridCol w="1092313">
                  <a:extLst>
                    <a:ext uri="{9D8B030D-6E8A-4147-A177-3AD203B41FA5}">
                      <a16:colId xmlns:a16="http://schemas.microsoft.com/office/drawing/2014/main" val="3755238338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CAPEX short summary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65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Unit operation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CAPEX [M$/year]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59756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effectLst/>
                        </a:rPr>
                        <a:t>Compressors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effectLst/>
                        </a:rPr>
                        <a:t>32.72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23515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effectLst/>
                        </a:rPr>
                        <a:t>Pumps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effectLst/>
                        </a:rPr>
                        <a:t>0.04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9645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effectLst/>
                        </a:rPr>
                        <a:t>Heat exchangers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effectLst/>
                        </a:rPr>
                        <a:t>7.76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660413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effectLst/>
                        </a:rPr>
                        <a:t>Reactors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effectLst/>
                        </a:rPr>
                        <a:t>5.44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41895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effectLst/>
                        </a:rPr>
                        <a:t>Flash separators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effectLst/>
                        </a:rPr>
                        <a:t>0.99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856297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effectLst/>
                        </a:rPr>
                        <a:t>Columns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>
                          <a:effectLst/>
                        </a:rPr>
                        <a:t>0.26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06782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Total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47.22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24208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8F237-A680-E344-8946-057DE9D84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524C6-551C-B87D-0668-7BACC914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1E56A-3C2E-F2A1-423A-4E4DBB90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74070B-D8EA-AA7F-34F9-BD68FD84A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977132"/>
              </p:ext>
            </p:extLst>
          </p:nvPr>
        </p:nvGraphicFramePr>
        <p:xfrm>
          <a:off x="1318042" y="3910164"/>
          <a:ext cx="2146300" cy="148780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053987">
                  <a:extLst>
                    <a:ext uri="{9D8B030D-6E8A-4147-A177-3AD203B41FA5}">
                      <a16:colId xmlns:a16="http://schemas.microsoft.com/office/drawing/2014/main" val="3967303672"/>
                    </a:ext>
                  </a:extLst>
                </a:gridCol>
                <a:gridCol w="1092313">
                  <a:extLst>
                    <a:ext uri="{9D8B030D-6E8A-4147-A177-3AD203B41FA5}">
                      <a16:colId xmlns:a16="http://schemas.microsoft.com/office/drawing/2014/main" val="200412046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Production costs  short summary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4305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Category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M$/year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147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Labor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7.34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69786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Maintanance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5.31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017558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Overhead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12.82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97097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Interest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83937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Total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28.37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824406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F884875-87BD-1076-71F7-E32376BE9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156972"/>
              </p:ext>
            </p:extLst>
          </p:nvPr>
        </p:nvGraphicFramePr>
        <p:xfrm>
          <a:off x="4515852" y="1554079"/>
          <a:ext cx="2641600" cy="282130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512220">
                  <a:extLst>
                    <a:ext uri="{9D8B030D-6E8A-4147-A177-3AD203B41FA5}">
                      <a16:colId xmlns:a16="http://schemas.microsoft.com/office/drawing/2014/main" val="1133604331"/>
                    </a:ext>
                  </a:extLst>
                </a:gridCol>
                <a:gridCol w="1129380">
                  <a:extLst>
                    <a:ext uri="{9D8B030D-6E8A-4147-A177-3AD203B41FA5}">
                      <a16:colId xmlns:a16="http://schemas.microsoft.com/office/drawing/2014/main" val="459141164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OPEX short summary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0635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Category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M$/year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36201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Natural gas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89.62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97380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Oxygen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29.43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059596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Ethylene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367.65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42227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Hydrogen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014055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Cooling water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23891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Electricity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7.44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0384868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CO</a:t>
                      </a:r>
                      <a:r>
                        <a:rPr lang="en-US" sz="1100" u="none" strike="noStrike" baseline="-25000">
                          <a:effectLst/>
                        </a:rPr>
                        <a:t>2</a:t>
                      </a:r>
                      <a:r>
                        <a:rPr lang="en-US" sz="1100" u="none" strike="noStrike">
                          <a:effectLst/>
                        </a:rPr>
                        <a:t> capture and storage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1928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Wastewater treatment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45953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Flue gas emissions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72282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Steam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-16.02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5493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Catalyst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18.53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02501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Total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518.22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2555378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5BF4213-7F40-D924-50D6-6D44A015A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407416"/>
              </p:ext>
            </p:extLst>
          </p:nvPr>
        </p:nvGraphicFramePr>
        <p:xfrm>
          <a:off x="8208962" y="1025692"/>
          <a:ext cx="3251200" cy="453580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613648">
                  <a:extLst>
                    <a:ext uri="{9D8B030D-6E8A-4147-A177-3AD203B41FA5}">
                      <a16:colId xmlns:a16="http://schemas.microsoft.com/office/drawing/2014/main" val="3697075958"/>
                    </a:ext>
                  </a:extLst>
                </a:gridCol>
                <a:gridCol w="637552">
                  <a:extLst>
                    <a:ext uri="{9D8B030D-6E8A-4147-A177-3AD203B41FA5}">
                      <a16:colId xmlns:a16="http://schemas.microsoft.com/office/drawing/2014/main" val="289686946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Purchased equipment cost 2022 (M$/year)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47.31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90729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Installed capital cost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176.94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39014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Offsites (OS)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629301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Design and engineering (D&amp;E)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69.01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00585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Contingency (X)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23.00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73509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Fixed capital investment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322.02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51608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Working capital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48.30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64073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Total investment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370.33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006642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Labor costs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7.34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91619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Maintanance costs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5.31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91078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Overhead expenses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12.82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22967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Interest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4278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Project lifetime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25.00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22532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Interest rate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47084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ACCR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0.1275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75610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CAPEX (M$/year)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47.22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02709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Fixed production costs (M$/year)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28.37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54671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OPEX (M$/year)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518.22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624015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Total expenses (M$/year)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593.81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5385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Total expenses ($/hr)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74226.16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17131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Total propanol produced (kg/hr)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56724.82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843467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Cost of propanol per kg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1.3085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20536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Cost of propanol per ton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1308.53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16133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000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BE03-0095-6FD0-52AF-FEC126D4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Economics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0B65-06E3-36B2-AF36-6D42DC1A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141C-66FA-1C31-7632-6292FB29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EBEFAAE-0CB7-B0F7-7D67-78B0B4CF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91166-E4F9-3FA9-EC02-65C310263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1441" y="922792"/>
            <a:ext cx="9569116" cy="556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1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BE03-0095-6FD0-52AF-FEC126D4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DA780-8102-359C-C981-BDAEC8BA9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Complete and optimize the flowsheet for the green process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Calculate the economics of the green process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Find break even prices of raw materials (e.g. carbon dioxide, hydrogen, ethylene, green-ethylene etc.)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0B65-06E3-36B2-AF36-6D42DC1A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20.07.2022</a:t>
            </a:fld>
            <a:endParaRPr lang="de-CH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141C-66FA-1C31-7632-6292FB29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6EBEFAAE-0CB7-B0F7-7D67-78B0B4CF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5400000" cy="216000"/>
          </a:xfrm>
        </p:spPr>
        <p:txBody>
          <a:bodyPr/>
          <a:lstStyle/>
          <a:p>
            <a:r>
              <a:rPr lang="de-DE" dirty="0"/>
              <a:t>Sustainable </a:t>
            </a:r>
            <a:r>
              <a:rPr lang="de-DE" dirty="0" err="1"/>
              <a:t>Process</a:t>
            </a:r>
            <a:r>
              <a:rPr lang="de-DE" dirty="0"/>
              <a:t> Systems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58871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ETH_Vorlage_Praesentation" id="{4B926070-AF32-7F40-B7F4-387B612D789A}" vid="{D694835D-6A8F-E347-A983-608C17A72CEC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 presentation template</Template>
  <TotalTime>0</TotalTime>
  <Words>504</Words>
  <Application>Microsoft Office PowerPoint</Application>
  <PresentationFormat>Widescreen</PresentationFormat>
  <Paragraphs>184</Paragraphs>
  <Slides>11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Symbol</vt:lpstr>
      <vt:lpstr>Wingdings</vt:lpstr>
      <vt:lpstr>ETH Zürich</vt:lpstr>
      <vt:lpstr>Carbon Dioxide to 1-Propanol Weekly Update</vt:lpstr>
      <vt:lpstr>Meeting Minutes (06.07.2022)</vt:lpstr>
      <vt:lpstr>BAU vs Proposed Route</vt:lpstr>
      <vt:lpstr>Elementary Flowsheet – BAU Process</vt:lpstr>
      <vt:lpstr>Aspen Screenshot</vt:lpstr>
      <vt:lpstr>Heat Integration Screenshot</vt:lpstr>
      <vt:lpstr>Results - CAPEX</vt:lpstr>
      <vt:lpstr>Results - Economics</vt:lpstr>
      <vt:lpstr>Economics Summary</vt:lpstr>
      <vt:lpstr>Results - Economics</vt:lpstr>
      <vt:lpstr>Path Forward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Dioxide to Propanol – Weekly Update</dc:title>
  <dc:creator>Nabera  Abhinandan</dc:creator>
  <cp:lastModifiedBy>Nabera  Abhinandan</cp:lastModifiedBy>
  <cp:revision>80</cp:revision>
  <dcterms:created xsi:type="dcterms:W3CDTF">2022-07-06T08:30:06Z</dcterms:created>
  <dcterms:modified xsi:type="dcterms:W3CDTF">2022-07-20T15:07:35Z</dcterms:modified>
</cp:coreProperties>
</file>